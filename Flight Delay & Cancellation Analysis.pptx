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61" r:id="rId5"/>
    <p:sldId id="262" r:id="rId6"/>
    <p:sldId id="263" r:id="rId7"/>
    <p:sldId id="264" r:id="rId8"/>
    <p:sldId id="265" r:id="rId9"/>
    <p:sldId id="266" r:id="rId10"/>
    <p:sldId id="267" r:id="rId11"/>
    <p:sldId id="268" r:id="rId12"/>
    <p:sldId id="270" r:id="rId13"/>
    <p:sldId id="272" r:id="rId14"/>
    <p:sldId id="274" r:id="rId15"/>
    <p:sldId id="27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34C8C3-0B9A-42B4-9F4D-CBA39179894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8287B3-5506-4306-8983-3A6633BAE11E}" type="slidenum">
              <a:rPr lang="en-IN" smtClean="0"/>
              <a:t>‹#›</a:t>
            </a:fld>
            <a:endParaRPr lang="en-IN"/>
          </a:p>
        </p:txBody>
      </p:sp>
    </p:spTree>
    <p:extLst>
      <p:ext uri="{BB962C8B-B14F-4D97-AF65-F5344CB8AC3E}">
        <p14:creationId xmlns:p14="http://schemas.microsoft.com/office/powerpoint/2010/main" val="1010115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34C8C3-0B9A-42B4-9F4D-CBA39179894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8287B3-5506-4306-8983-3A6633BAE11E}" type="slidenum">
              <a:rPr lang="en-IN" smtClean="0"/>
              <a:t>‹#›</a:t>
            </a:fld>
            <a:endParaRPr lang="en-IN"/>
          </a:p>
        </p:txBody>
      </p:sp>
    </p:spTree>
    <p:extLst>
      <p:ext uri="{BB962C8B-B14F-4D97-AF65-F5344CB8AC3E}">
        <p14:creationId xmlns:p14="http://schemas.microsoft.com/office/powerpoint/2010/main" val="2531527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8C34C8C3-0B9A-42B4-9F4D-CBA39179894B}" type="datetimeFigureOut">
              <a:rPr lang="en-IN" smtClean="0"/>
              <a:t>01-05-2026</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5B8287B3-5506-4306-8983-3A6633BAE11E}" type="slidenum">
              <a:rPr lang="en-IN" smtClean="0"/>
              <a:t>‹#›</a:t>
            </a:fld>
            <a:endParaRPr lang="en-IN"/>
          </a:p>
        </p:txBody>
      </p:sp>
    </p:spTree>
    <p:extLst>
      <p:ext uri="{BB962C8B-B14F-4D97-AF65-F5344CB8AC3E}">
        <p14:creationId xmlns:p14="http://schemas.microsoft.com/office/powerpoint/2010/main" val="314947872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34C8C3-0B9A-42B4-9F4D-CBA39179894B}"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8287B3-5506-4306-8983-3A6633BAE11E}" type="slidenum">
              <a:rPr lang="en-IN" smtClean="0"/>
              <a:t>‹#›</a:t>
            </a:fld>
            <a:endParaRPr lang="en-IN"/>
          </a:p>
        </p:txBody>
      </p:sp>
    </p:spTree>
    <p:extLst>
      <p:ext uri="{BB962C8B-B14F-4D97-AF65-F5344CB8AC3E}">
        <p14:creationId xmlns:p14="http://schemas.microsoft.com/office/powerpoint/2010/main" val="3863867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34C8C3-0B9A-42B4-9F4D-CBA39179894B}" type="datetimeFigureOut">
              <a:rPr lang="en-IN" smtClean="0"/>
              <a:t>01-05-2026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B8287B3-5506-4306-8983-3A6633BAE11E}" type="slidenum">
              <a:rPr lang="en-IN" smtClean="0"/>
              <a:t>‹#›</a:t>
            </a:fld>
            <a:endParaRPr lang="en-IN"/>
          </a:p>
        </p:txBody>
      </p:sp>
    </p:spTree>
    <p:extLst>
      <p:ext uri="{BB962C8B-B14F-4D97-AF65-F5344CB8AC3E}">
        <p14:creationId xmlns:p14="http://schemas.microsoft.com/office/powerpoint/2010/main" val="3884992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4C8C3-0B9A-42B4-9F4D-CBA39179894B}" type="datetimeFigureOut">
              <a:rPr lang="en-IN" smtClean="0"/>
              <a:t>01-05-2026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B8287B3-5506-4306-8983-3A6633BAE11E}" type="slidenum">
              <a:rPr lang="en-IN" smtClean="0"/>
              <a:t>‹#›</a:t>
            </a:fld>
            <a:endParaRPr lang="en-IN"/>
          </a:p>
        </p:txBody>
      </p:sp>
    </p:spTree>
    <p:extLst>
      <p:ext uri="{BB962C8B-B14F-4D97-AF65-F5344CB8AC3E}">
        <p14:creationId xmlns:p14="http://schemas.microsoft.com/office/powerpoint/2010/main" val="354359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34C8C3-0B9A-42B4-9F4D-CBA39179894B}" type="datetimeFigureOut">
              <a:rPr lang="en-IN" smtClean="0"/>
              <a:t>01-05-2026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B8287B3-5506-4306-8983-3A6633BAE11E}" type="slidenum">
              <a:rPr lang="en-IN" smtClean="0"/>
              <a:t>‹#›</a:t>
            </a:fld>
            <a:endParaRPr lang="en-IN"/>
          </a:p>
        </p:txBody>
      </p:sp>
    </p:spTree>
    <p:extLst>
      <p:ext uri="{BB962C8B-B14F-4D97-AF65-F5344CB8AC3E}">
        <p14:creationId xmlns:p14="http://schemas.microsoft.com/office/powerpoint/2010/main" val="3042815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34C8C3-0B9A-42B4-9F4D-CBA39179894B}"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8287B3-5506-4306-8983-3A6633BAE11E}" type="slidenum">
              <a:rPr lang="en-IN" smtClean="0"/>
              <a:t>‹#›</a:t>
            </a:fld>
            <a:endParaRPr lang="en-IN"/>
          </a:p>
        </p:txBody>
      </p:sp>
    </p:spTree>
    <p:extLst>
      <p:ext uri="{BB962C8B-B14F-4D97-AF65-F5344CB8AC3E}">
        <p14:creationId xmlns:p14="http://schemas.microsoft.com/office/powerpoint/2010/main" val="847397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34C8C3-0B9A-42B4-9F4D-CBA39179894B}"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8287B3-5506-4306-8983-3A6633BAE11E}" type="slidenum">
              <a:rPr lang="en-IN" smtClean="0"/>
              <a:t>‹#›</a:t>
            </a:fld>
            <a:endParaRPr lang="en-IN"/>
          </a:p>
        </p:txBody>
      </p:sp>
    </p:spTree>
    <p:extLst>
      <p:ext uri="{BB962C8B-B14F-4D97-AF65-F5344CB8AC3E}">
        <p14:creationId xmlns:p14="http://schemas.microsoft.com/office/powerpoint/2010/main" val="1500338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34C8C3-0B9A-42B4-9F4D-CBA39179894B}"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8287B3-5506-4306-8983-3A6633BAE11E}" type="slidenum">
              <a:rPr lang="en-IN" smtClean="0"/>
              <a:t>‹#›</a:t>
            </a:fld>
            <a:endParaRPr lang="en-IN"/>
          </a:p>
        </p:txBody>
      </p:sp>
    </p:spTree>
    <p:extLst>
      <p:ext uri="{BB962C8B-B14F-4D97-AF65-F5344CB8AC3E}">
        <p14:creationId xmlns:p14="http://schemas.microsoft.com/office/powerpoint/2010/main" val="2434388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8C34C8C3-0B9A-42B4-9F4D-CBA39179894B}" type="datetimeFigureOut">
              <a:rPr lang="en-IN" smtClean="0"/>
              <a:t>01-05-2026</a:t>
            </a:fld>
            <a:endParaRPr lang="en-IN"/>
          </a:p>
        </p:txBody>
      </p:sp>
      <p:sp>
        <p:nvSpPr>
          <p:cNvPr id="5" name="Footer Placeholder 4"/>
          <p:cNvSpPr>
            <a:spLocks noGrp="1"/>
          </p:cNvSpPr>
          <p:nvPr>
            <p:ph type="ftr" sz="quarter" idx="11"/>
          </p:nvPr>
        </p:nvSpPr>
        <p:spPr>
          <a:xfrm>
            <a:off x="3776135" y="6422854"/>
            <a:ext cx="4279669" cy="365125"/>
          </a:xfrm>
        </p:spPr>
        <p:txBody>
          <a:bodyPr/>
          <a:lstStyle/>
          <a:p>
            <a:endParaRPr lang="en-IN"/>
          </a:p>
        </p:txBody>
      </p:sp>
      <p:sp>
        <p:nvSpPr>
          <p:cNvPr id="6" name="Slide Number Placeholder 5"/>
          <p:cNvSpPr>
            <a:spLocks noGrp="1"/>
          </p:cNvSpPr>
          <p:nvPr>
            <p:ph type="sldNum" sz="quarter" idx="12"/>
          </p:nvPr>
        </p:nvSpPr>
        <p:spPr>
          <a:xfrm>
            <a:off x="8073048" y="6422854"/>
            <a:ext cx="879759" cy="365125"/>
          </a:xfrm>
        </p:spPr>
        <p:txBody>
          <a:bodyPr/>
          <a:lstStyle/>
          <a:p>
            <a:fld id="{5B8287B3-5506-4306-8983-3A6633BAE11E}" type="slidenum">
              <a:rPr lang="en-IN" smtClean="0"/>
              <a:t>‹#›</a:t>
            </a:fld>
            <a:endParaRPr lang="en-IN"/>
          </a:p>
        </p:txBody>
      </p:sp>
    </p:spTree>
    <p:extLst>
      <p:ext uri="{BB962C8B-B14F-4D97-AF65-F5344CB8AC3E}">
        <p14:creationId xmlns:p14="http://schemas.microsoft.com/office/powerpoint/2010/main" val="1790157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8C34C8C3-0B9A-42B4-9F4D-CBA39179894B}" type="datetimeFigureOut">
              <a:rPr lang="en-IN" smtClean="0"/>
              <a:t>01-05-2026</a:t>
            </a:fld>
            <a:endParaRPr lang="en-IN"/>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IN"/>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5B8287B3-5506-4306-8983-3A6633BAE11E}" type="slidenum">
              <a:rPr lang="en-IN" smtClean="0"/>
              <a:t>‹#›</a:t>
            </a:fld>
            <a:endParaRPr lang="en-IN"/>
          </a:p>
        </p:txBody>
      </p:sp>
    </p:spTree>
    <p:extLst>
      <p:ext uri="{BB962C8B-B14F-4D97-AF65-F5344CB8AC3E}">
        <p14:creationId xmlns:p14="http://schemas.microsoft.com/office/powerpoint/2010/main" val="140845571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maliniroyc/Flight-Delay-Cancellation-Analysis-Project/blob/main/Flight%20Project.csv"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0BD81-10AC-58A4-D70B-7CE7B488AFF5}"/>
              </a:ext>
            </a:extLst>
          </p:cNvPr>
          <p:cNvSpPr>
            <a:spLocks noGrp="1"/>
          </p:cNvSpPr>
          <p:nvPr>
            <p:ph type="ctrTitle"/>
          </p:nvPr>
        </p:nvSpPr>
        <p:spPr/>
        <p:txBody>
          <a:bodyPr>
            <a:normAutofit fontScale="90000"/>
          </a:bodyPr>
          <a:lstStyle/>
          <a:p>
            <a:r>
              <a:rPr lang="en-IN" dirty="0"/>
              <a:t>Flight Delay &amp; Cancellation Analysis Project</a:t>
            </a:r>
          </a:p>
        </p:txBody>
      </p:sp>
      <p:sp>
        <p:nvSpPr>
          <p:cNvPr id="3" name="Subtitle 2">
            <a:extLst>
              <a:ext uri="{FF2B5EF4-FFF2-40B4-BE49-F238E27FC236}">
                <a16:creationId xmlns:a16="http://schemas.microsoft.com/office/drawing/2014/main" id="{87818578-8D81-CC8A-15E0-F9A1BA6A952D}"/>
              </a:ext>
            </a:extLst>
          </p:cNvPr>
          <p:cNvSpPr>
            <a:spLocks noGrp="1"/>
          </p:cNvSpPr>
          <p:nvPr>
            <p:ph type="subTitle" idx="1"/>
          </p:nvPr>
        </p:nvSpPr>
        <p:spPr/>
        <p:txBody>
          <a:bodyPr/>
          <a:lstStyle/>
          <a:p>
            <a:r>
              <a:rPr lang="en-IN" dirty="0"/>
              <a:t>PREPARED BY MALINI ROY CHOUDHURY</a:t>
            </a:r>
          </a:p>
        </p:txBody>
      </p:sp>
    </p:spTree>
    <p:extLst>
      <p:ext uri="{BB962C8B-B14F-4D97-AF65-F5344CB8AC3E}">
        <p14:creationId xmlns:p14="http://schemas.microsoft.com/office/powerpoint/2010/main" val="28095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76E1C-EBF8-D8CB-9C6C-CB06F54C6F72}"/>
              </a:ext>
            </a:extLst>
          </p:cNvPr>
          <p:cNvSpPr>
            <a:spLocks noGrp="1"/>
          </p:cNvSpPr>
          <p:nvPr>
            <p:ph type="title"/>
          </p:nvPr>
        </p:nvSpPr>
        <p:spPr/>
        <p:txBody>
          <a:bodyPr/>
          <a:lstStyle/>
          <a:p>
            <a:r>
              <a:rPr lang="en" dirty="0"/>
              <a:t>Problem Statement and Objective </a:t>
            </a:r>
            <a:endParaRPr lang="en-IN" dirty="0"/>
          </a:p>
        </p:txBody>
      </p:sp>
      <p:sp>
        <p:nvSpPr>
          <p:cNvPr id="3" name="Content Placeholder 2">
            <a:extLst>
              <a:ext uri="{FF2B5EF4-FFF2-40B4-BE49-F238E27FC236}">
                <a16:creationId xmlns:a16="http://schemas.microsoft.com/office/drawing/2014/main" id="{4379143E-F6E4-1099-166E-1059A86CB694}"/>
              </a:ext>
            </a:extLst>
          </p:cNvPr>
          <p:cNvSpPr>
            <a:spLocks noGrp="1"/>
          </p:cNvSpPr>
          <p:nvPr>
            <p:ph idx="1"/>
          </p:nvPr>
        </p:nvSpPr>
        <p:spPr>
          <a:xfrm>
            <a:off x="1202919" y="2011680"/>
            <a:ext cx="9784080" cy="4398952"/>
          </a:xfrm>
        </p:spPr>
        <p:txBody>
          <a:bodyPr>
            <a:normAutofit fontScale="85000" lnSpcReduction="20000"/>
          </a:bodyPr>
          <a:lstStyle/>
          <a:p>
            <a:pPr marL="0" indent="0">
              <a:buNone/>
            </a:pPr>
            <a:r>
              <a:rPr lang="en-IN" b="1" dirty="0"/>
              <a:t>Problem Statement: </a:t>
            </a:r>
          </a:p>
          <a:p>
            <a:pPr marL="0" indent="0">
              <a:lnSpc>
                <a:spcPct val="120000"/>
              </a:lnSpc>
              <a:buNone/>
            </a:pPr>
            <a:r>
              <a:rPr lang="en-US" dirty="0"/>
              <a:t>Airlines were facing a surge in customer complaints due to frequent flight delays and cancellations. Leadership lacked visibility into the root causes, with unclear metrics caused by missing or inconsistent data in departure times and delay records. Without structured analysis, it was difficult to identify whether delays were concentrated at specific airports, routes, or times of day, and cancellation trends by airline remained hidden. This created operational inefficiencies and negatively impacted customer satisfaction.</a:t>
            </a:r>
          </a:p>
          <a:p>
            <a:pPr marL="0" indent="0">
              <a:buNone/>
            </a:pPr>
            <a:r>
              <a:rPr lang="en-US" b="1" dirty="0"/>
              <a:t>Objective: </a:t>
            </a:r>
          </a:p>
          <a:p>
            <a:r>
              <a:rPr lang="en-US" dirty="0"/>
              <a:t>Clean and validate flight data using SQL to ensure accuracy in delay and cancellation metrics.</a:t>
            </a:r>
          </a:p>
          <a:p>
            <a:r>
              <a:rPr lang="en-US" dirty="0"/>
              <a:t>Analyze patterns and root causes of delays and cancellations by airline, airport, route, and time of day.</a:t>
            </a:r>
          </a:p>
          <a:p>
            <a:r>
              <a:rPr lang="en-US" dirty="0"/>
              <a:t>Build interactive Power BI dashboards with KPIs and matrices to provide actionable insights, reduce complaints, and improve operational performance.</a:t>
            </a:r>
            <a:endParaRPr lang="en-IN" dirty="0"/>
          </a:p>
        </p:txBody>
      </p:sp>
    </p:spTree>
    <p:extLst>
      <p:ext uri="{BB962C8B-B14F-4D97-AF65-F5344CB8AC3E}">
        <p14:creationId xmlns:p14="http://schemas.microsoft.com/office/powerpoint/2010/main" val="3754074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2C6AE-CE57-F0AE-C8AE-839272E04267}"/>
              </a:ext>
            </a:extLst>
          </p:cNvPr>
          <p:cNvSpPr>
            <a:spLocks noGrp="1"/>
          </p:cNvSpPr>
          <p:nvPr>
            <p:ph type="title"/>
          </p:nvPr>
        </p:nvSpPr>
        <p:spPr/>
        <p:txBody>
          <a:bodyPr/>
          <a:lstStyle/>
          <a:p>
            <a:r>
              <a:rPr lang="en" dirty="0"/>
              <a:t>Dataset Overview</a:t>
            </a:r>
            <a:endParaRPr lang="en-IN" dirty="0"/>
          </a:p>
        </p:txBody>
      </p:sp>
      <p:sp>
        <p:nvSpPr>
          <p:cNvPr id="3" name="Content Placeholder 2">
            <a:extLst>
              <a:ext uri="{FF2B5EF4-FFF2-40B4-BE49-F238E27FC236}">
                <a16:creationId xmlns:a16="http://schemas.microsoft.com/office/drawing/2014/main" id="{7CF69ADC-93F0-615A-EE5B-E246BC50D6E0}"/>
              </a:ext>
            </a:extLst>
          </p:cNvPr>
          <p:cNvSpPr>
            <a:spLocks noGrp="1"/>
          </p:cNvSpPr>
          <p:nvPr>
            <p:ph sz="half" idx="1"/>
          </p:nvPr>
        </p:nvSpPr>
        <p:spPr/>
        <p:txBody>
          <a:bodyPr>
            <a:normAutofit fontScale="92500" lnSpcReduction="20000"/>
          </a:bodyPr>
          <a:lstStyle/>
          <a:p>
            <a:pPr>
              <a:lnSpc>
                <a:spcPct val="270000"/>
              </a:lnSpc>
            </a:pPr>
            <a:r>
              <a:rPr lang="en-IN" sz="2000" b="1" dirty="0"/>
              <a:t>Sources</a:t>
            </a:r>
            <a:r>
              <a:rPr lang="en-IN" sz="2000" dirty="0"/>
              <a:t> :</a:t>
            </a:r>
            <a:r>
              <a:rPr lang="en-IN" sz="2000" dirty="0">
                <a:hlinkClick r:id="rId2"/>
              </a:rPr>
              <a:t>CSV</a:t>
            </a:r>
            <a:endParaRPr lang="en-IN" sz="2000" dirty="0"/>
          </a:p>
          <a:p>
            <a:pPr>
              <a:lnSpc>
                <a:spcPct val="270000"/>
              </a:lnSpc>
            </a:pPr>
            <a:r>
              <a:rPr lang="en-US" sz="2000" b="1" dirty="0"/>
              <a:t>Size: </a:t>
            </a:r>
            <a:r>
              <a:rPr lang="en-US" sz="2000" dirty="0"/>
              <a:t>(500, 9)</a:t>
            </a:r>
          </a:p>
          <a:p>
            <a:pPr>
              <a:lnSpc>
                <a:spcPct val="270000"/>
              </a:lnSpc>
            </a:pPr>
            <a:r>
              <a:rPr lang="en-US" sz="2000" b="1" dirty="0"/>
              <a:t>Timeframe:</a:t>
            </a:r>
            <a:r>
              <a:rPr lang="en-US" sz="2000" dirty="0"/>
              <a:t> 2024-01-01 to 2024-31-06</a:t>
            </a:r>
          </a:p>
          <a:p>
            <a:pPr>
              <a:lnSpc>
                <a:spcPct val="270000"/>
              </a:lnSpc>
            </a:pPr>
            <a:r>
              <a:rPr lang="en-US" sz="2000" b="1" dirty="0"/>
              <a:t>Tools</a:t>
            </a:r>
            <a:r>
              <a:rPr lang="en-US" sz="2000" dirty="0"/>
              <a:t> : PostgreSQL and Power BI</a:t>
            </a:r>
            <a:endParaRPr lang="en-IN" sz="2000" dirty="0"/>
          </a:p>
        </p:txBody>
      </p:sp>
      <p:sp>
        <p:nvSpPr>
          <p:cNvPr id="4" name="Content Placeholder 3">
            <a:extLst>
              <a:ext uri="{FF2B5EF4-FFF2-40B4-BE49-F238E27FC236}">
                <a16:creationId xmlns:a16="http://schemas.microsoft.com/office/drawing/2014/main" id="{AE9E3105-E2EE-A6A3-0430-79E72D9E1264}"/>
              </a:ext>
            </a:extLst>
          </p:cNvPr>
          <p:cNvSpPr>
            <a:spLocks noGrp="1"/>
          </p:cNvSpPr>
          <p:nvPr>
            <p:ph sz="half" idx="2"/>
          </p:nvPr>
        </p:nvSpPr>
        <p:spPr/>
        <p:txBody>
          <a:bodyPr>
            <a:normAutofit fontScale="92500" lnSpcReduction="20000"/>
          </a:bodyPr>
          <a:lstStyle/>
          <a:p>
            <a:r>
              <a:rPr lang="en-IN" sz="2400" b="1" u="sng" dirty="0"/>
              <a:t>Key Variables:</a:t>
            </a:r>
          </a:p>
          <a:p>
            <a:r>
              <a:rPr lang="en-US" dirty="0" err="1"/>
              <a:t>flight_id</a:t>
            </a:r>
            <a:r>
              <a:rPr lang="en-US" dirty="0"/>
              <a:t> : flight record ID</a:t>
            </a:r>
          </a:p>
          <a:p>
            <a:r>
              <a:rPr lang="en-US" dirty="0"/>
              <a:t>airline	: Airline name</a:t>
            </a:r>
          </a:p>
          <a:p>
            <a:r>
              <a:rPr lang="en-US" dirty="0" err="1"/>
              <a:t>flight_number</a:t>
            </a:r>
            <a:r>
              <a:rPr lang="en-US" dirty="0"/>
              <a:t>: Flight number</a:t>
            </a:r>
          </a:p>
          <a:p>
            <a:r>
              <a:rPr lang="en-US" dirty="0"/>
              <a:t>origin :Origin airport</a:t>
            </a:r>
          </a:p>
          <a:p>
            <a:r>
              <a:rPr lang="en-US" dirty="0"/>
              <a:t>destination : Destination airport</a:t>
            </a:r>
          </a:p>
          <a:p>
            <a:r>
              <a:rPr lang="en-US" dirty="0" err="1"/>
              <a:t>scheduled_departure</a:t>
            </a:r>
            <a:r>
              <a:rPr lang="en-US" dirty="0"/>
              <a:t> : Scheduled departure time</a:t>
            </a:r>
          </a:p>
          <a:p>
            <a:r>
              <a:rPr lang="en-US" dirty="0" err="1"/>
              <a:t>actual_departure</a:t>
            </a:r>
            <a:r>
              <a:rPr lang="en-US" dirty="0"/>
              <a:t> : Actual departure time</a:t>
            </a:r>
          </a:p>
          <a:p>
            <a:r>
              <a:rPr lang="en-US" dirty="0" err="1"/>
              <a:t>delay_minutes</a:t>
            </a:r>
            <a:r>
              <a:rPr lang="en-US" dirty="0"/>
              <a:t> : Delay in minutes</a:t>
            </a:r>
          </a:p>
          <a:p>
            <a:r>
              <a:rPr lang="en-US" dirty="0"/>
              <a:t>canceled : Whether flight was canceled</a:t>
            </a:r>
            <a:endParaRPr lang="en-IN" dirty="0"/>
          </a:p>
        </p:txBody>
      </p:sp>
    </p:spTree>
    <p:extLst>
      <p:ext uri="{BB962C8B-B14F-4D97-AF65-F5344CB8AC3E}">
        <p14:creationId xmlns:p14="http://schemas.microsoft.com/office/powerpoint/2010/main" val="1141690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70762-FB15-E335-DC5E-088D385A08ED}"/>
              </a:ext>
            </a:extLst>
          </p:cNvPr>
          <p:cNvSpPr>
            <a:spLocks noGrp="1"/>
          </p:cNvSpPr>
          <p:nvPr>
            <p:ph type="title"/>
          </p:nvPr>
        </p:nvSpPr>
        <p:spPr/>
        <p:txBody>
          <a:bodyPr/>
          <a:lstStyle/>
          <a:p>
            <a:r>
              <a:rPr lang="en-IN" dirty="0"/>
              <a:t>Dataset</a:t>
            </a:r>
          </a:p>
        </p:txBody>
      </p:sp>
      <p:graphicFrame>
        <p:nvGraphicFramePr>
          <p:cNvPr id="6" name="Content Placeholder 5">
            <a:extLst>
              <a:ext uri="{FF2B5EF4-FFF2-40B4-BE49-F238E27FC236}">
                <a16:creationId xmlns:a16="http://schemas.microsoft.com/office/drawing/2014/main" id="{F2389C81-7E49-4ABF-EA39-66FDFD5FE297}"/>
              </a:ext>
            </a:extLst>
          </p:cNvPr>
          <p:cNvGraphicFramePr>
            <a:graphicFrameLocks noGrp="1"/>
          </p:cNvGraphicFramePr>
          <p:nvPr>
            <p:ph sz="half" idx="1"/>
            <p:extLst>
              <p:ext uri="{D42A27DB-BD31-4B8C-83A1-F6EECF244321}">
                <p14:modId xmlns:p14="http://schemas.microsoft.com/office/powerpoint/2010/main" val="3721600492"/>
              </p:ext>
            </p:extLst>
          </p:nvPr>
        </p:nvGraphicFramePr>
        <p:xfrm>
          <a:off x="1204913" y="2971799"/>
          <a:ext cx="4754562" cy="2286000"/>
        </p:xfrm>
        <a:graphic>
          <a:graphicData uri="http://schemas.openxmlformats.org/drawingml/2006/table">
            <a:tbl>
              <a:tblPr>
                <a:tableStyleId>{BDBED569-4797-4DF1-A0F4-6AAB3CD982D8}</a:tableStyleId>
              </a:tblPr>
              <a:tblGrid>
                <a:gridCol w="1584854">
                  <a:extLst>
                    <a:ext uri="{9D8B030D-6E8A-4147-A177-3AD203B41FA5}">
                      <a16:colId xmlns:a16="http://schemas.microsoft.com/office/drawing/2014/main" val="3807880653"/>
                    </a:ext>
                  </a:extLst>
                </a:gridCol>
                <a:gridCol w="1584854">
                  <a:extLst>
                    <a:ext uri="{9D8B030D-6E8A-4147-A177-3AD203B41FA5}">
                      <a16:colId xmlns:a16="http://schemas.microsoft.com/office/drawing/2014/main" val="3121645995"/>
                    </a:ext>
                  </a:extLst>
                </a:gridCol>
                <a:gridCol w="1584854">
                  <a:extLst>
                    <a:ext uri="{9D8B030D-6E8A-4147-A177-3AD203B41FA5}">
                      <a16:colId xmlns:a16="http://schemas.microsoft.com/office/drawing/2014/main" val="2567701636"/>
                    </a:ext>
                  </a:extLst>
                </a:gridCol>
              </a:tblGrid>
              <a:tr h="228600">
                <a:tc>
                  <a:txBody>
                    <a:bodyPr/>
                    <a:lstStyle/>
                    <a:p>
                      <a:pPr>
                        <a:buNone/>
                      </a:pPr>
                      <a:r>
                        <a:rPr lang="en-IN" sz="900" dirty="0"/>
                        <a:t>Column</a:t>
                      </a:r>
                    </a:p>
                  </a:txBody>
                  <a:tcPr marL="44437" marR="44437" marT="22218" marB="22218" anchor="ctr"/>
                </a:tc>
                <a:tc>
                  <a:txBody>
                    <a:bodyPr/>
                    <a:lstStyle/>
                    <a:p>
                      <a:pPr>
                        <a:buNone/>
                      </a:pPr>
                      <a:r>
                        <a:rPr lang="en-IN" sz="900"/>
                        <a:t>Type</a:t>
                      </a:r>
                    </a:p>
                  </a:txBody>
                  <a:tcPr marL="44437" marR="44437" marT="22218" marB="22218" anchor="ctr"/>
                </a:tc>
                <a:tc>
                  <a:txBody>
                    <a:bodyPr/>
                    <a:lstStyle/>
                    <a:p>
                      <a:pPr>
                        <a:buNone/>
                      </a:pPr>
                      <a:r>
                        <a:rPr lang="en-IN" sz="900"/>
                        <a:t>Description</a:t>
                      </a:r>
                    </a:p>
                  </a:txBody>
                  <a:tcPr marL="44437" marR="44437" marT="22218" marB="22218" anchor="ctr"/>
                </a:tc>
                <a:extLst>
                  <a:ext uri="{0D108BD9-81ED-4DB2-BD59-A6C34878D82A}">
                    <a16:rowId xmlns:a16="http://schemas.microsoft.com/office/drawing/2014/main" val="3360732342"/>
                  </a:ext>
                </a:extLst>
              </a:tr>
              <a:tr h="228600">
                <a:tc>
                  <a:txBody>
                    <a:bodyPr/>
                    <a:lstStyle/>
                    <a:p>
                      <a:pPr>
                        <a:buNone/>
                      </a:pPr>
                      <a:r>
                        <a:rPr lang="en-IN" sz="900" b="0" dirty="0" err="1"/>
                        <a:t>flight_id</a:t>
                      </a:r>
                      <a:endParaRPr lang="en-IN" sz="900" b="0" dirty="0"/>
                    </a:p>
                  </a:txBody>
                  <a:tcPr marL="44437" marR="44437" marT="22218" marB="22218" anchor="ctr"/>
                </a:tc>
                <a:tc>
                  <a:txBody>
                    <a:bodyPr/>
                    <a:lstStyle/>
                    <a:p>
                      <a:pPr>
                        <a:buNone/>
                      </a:pPr>
                      <a:r>
                        <a:rPr lang="en-IN" sz="900"/>
                        <a:t>INT</a:t>
                      </a:r>
                    </a:p>
                  </a:txBody>
                  <a:tcPr marL="44437" marR="44437" marT="22218" marB="22218" anchor="ctr"/>
                </a:tc>
                <a:tc>
                  <a:txBody>
                    <a:bodyPr/>
                    <a:lstStyle/>
                    <a:p>
                      <a:pPr>
                        <a:buNone/>
                      </a:pPr>
                      <a:r>
                        <a:rPr lang="en-IN" sz="900"/>
                        <a:t>Unique flight record ID</a:t>
                      </a:r>
                    </a:p>
                  </a:txBody>
                  <a:tcPr marL="44437" marR="44437" marT="22218" marB="22218" anchor="ctr"/>
                </a:tc>
                <a:extLst>
                  <a:ext uri="{0D108BD9-81ED-4DB2-BD59-A6C34878D82A}">
                    <a16:rowId xmlns:a16="http://schemas.microsoft.com/office/drawing/2014/main" val="3207296802"/>
                  </a:ext>
                </a:extLst>
              </a:tr>
              <a:tr h="228600">
                <a:tc>
                  <a:txBody>
                    <a:bodyPr/>
                    <a:lstStyle/>
                    <a:p>
                      <a:pPr>
                        <a:buNone/>
                      </a:pPr>
                      <a:r>
                        <a:rPr lang="en-IN" sz="900"/>
                        <a:t>airline</a:t>
                      </a:r>
                    </a:p>
                  </a:txBody>
                  <a:tcPr marL="44437" marR="44437" marT="22218" marB="22218" anchor="ctr"/>
                </a:tc>
                <a:tc>
                  <a:txBody>
                    <a:bodyPr/>
                    <a:lstStyle/>
                    <a:p>
                      <a:pPr>
                        <a:buNone/>
                      </a:pPr>
                      <a:r>
                        <a:rPr lang="en-IN" sz="900"/>
                        <a:t>TEXT</a:t>
                      </a:r>
                    </a:p>
                  </a:txBody>
                  <a:tcPr marL="44437" marR="44437" marT="22218" marB="22218" anchor="ctr"/>
                </a:tc>
                <a:tc>
                  <a:txBody>
                    <a:bodyPr/>
                    <a:lstStyle/>
                    <a:p>
                      <a:pPr>
                        <a:buNone/>
                      </a:pPr>
                      <a:r>
                        <a:rPr lang="en-IN" sz="900"/>
                        <a:t>Airline name</a:t>
                      </a:r>
                    </a:p>
                  </a:txBody>
                  <a:tcPr marL="44437" marR="44437" marT="22218" marB="22218" anchor="ctr"/>
                </a:tc>
                <a:extLst>
                  <a:ext uri="{0D108BD9-81ED-4DB2-BD59-A6C34878D82A}">
                    <a16:rowId xmlns:a16="http://schemas.microsoft.com/office/drawing/2014/main" val="4210289314"/>
                  </a:ext>
                </a:extLst>
              </a:tr>
              <a:tr h="228600">
                <a:tc>
                  <a:txBody>
                    <a:bodyPr/>
                    <a:lstStyle/>
                    <a:p>
                      <a:pPr>
                        <a:buNone/>
                      </a:pPr>
                      <a:r>
                        <a:rPr lang="en-IN" sz="900"/>
                        <a:t>flight_number</a:t>
                      </a:r>
                    </a:p>
                  </a:txBody>
                  <a:tcPr marL="44437" marR="44437" marT="22218" marB="22218" anchor="ctr"/>
                </a:tc>
                <a:tc>
                  <a:txBody>
                    <a:bodyPr/>
                    <a:lstStyle/>
                    <a:p>
                      <a:pPr>
                        <a:buNone/>
                      </a:pPr>
                      <a:r>
                        <a:rPr lang="en-IN" sz="900"/>
                        <a:t>TEXT</a:t>
                      </a:r>
                    </a:p>
                  </a:txBody>
                  <a:tcPr marL="44437" marR="44437" marT="22218" marB="22218" anchor="ctr"/>
                </a:tc>
                <a:tc>
                  <a:txBody>
                    <a:bodyPr/>
                    <a:lstStyle/>
                    <a:p>
                      <a:pPr>
                        <a:buNone/>
                      </a:pPr>
                      <a:r>
                        <a:rPr lang="en-IN" sz="900"/>
                        <a:t>Flight number</a:t>
                      </a:r>
                    </a:p>
                  </a:txBody>
                  <a:tcPr marL="44437" marR="44437" marT="22218" marB="22218" anchor="ctr"/>
                </a:tc>
                <a:extLst>
                  <a:ext uri="{0D108BD9-81ED-4DB2-BD59-A6C34878D82A}">
                    <a16:rowId xmlns:a16="http://schemas.microsoft.com/office/drawing/2014/main" val="2569563635"/>
                  </a:ext>
                </a:extLst>
              </a:tr>
              <a:tr h="228600">
                <a:tc>
                  <a:txBody>
                    <a:bodyPr/>
                    <a:lstStyle/>
                    <a:p>
                      <a:pPr>
                        <a:buNone/>
                      </a:pPr>
                      <a:r>
                        <a:rPr lang="en-IN" sz="900"/>
                        <a:t>origin</a:t>
                      </a:r>
                    </a:p>
                  </a:txBody>
                  <a:tcPr marL="44437" marR="44437" marT="22218" marB="22218" anchor="ctr"/>
                </a:tc>
                <a:tc>
                  <a:txBody>
                    <a:bodyPr/>
                    <a:lstStyle/>
                    <a:p>
                      <a:pPr>
                        <a:buNone/>
                      </a:pPr>
                      <a:r>
                        <a:rPr lang="en-IN" sz="900"/>
                        <a:t>TEXT</a:t>
                      </a:r>
                    </a:p>
                  </a:txBody>
                  <a:tcPr marL="44437" marR="44437" marT="22218" marB="22218" anchor="ctr"/>
                </a:tc>
                <a:tc>
                  <a:txBody>
                    <a:bodyPr/>
                    <a:lstStyle/>
                    <a:p>
                      <a:pPr>
                        <a:buNone/>
                      </a:pPr>
                      <a:r>
                        <a:rPr lang="en-IN" sz="900"/>
                        <a:t>Origin airport</a:t>
                      </a:r>
                    </a:p>
                  </a:txBody>
                  <a:tcPr marL="44437" marR="44437" marT="22218" marB="22218" anchor="ctr"/>
                </a:tc>
                <a:extLst>
                  <a:ext uri="{0D108BD9-81ED-4DB2-BD59-A6C34878D82A}">
                    <a16:rowId xmlns:a16="http://schemas.microsoft.com/office/drawing/2014/main" val="2748237426"/>
                  </a:ext>
                </a:extLst>
              </a:tr>
              <a:tr h="228600">
                <a:tc>
                  <a:txBody>
                    <a:bodyPr/>
                    <a:lstStyle/>
                    <a:p>
                      <a:pPr>
                        <a:buNone/>
                      </a:pPr>
                      <a:r>
                        <a:rPr lang="en-IN" sz="900"/>
                        <a:t>destination</a:t>
                      </a:r>
                    </a:p>
                  </a:txBody>
                  <a:tcPr marL="44437" marR="44437" marT="22218" marB="22218" anchor="ctr"/>
                </a:tc>
                <a:tc>
                  <a:txBody>
                    <a:bodyPr/>
                    <a:lstStyle/>
                    <a:p>
                      <a:pPr>
                        <a:buNone/>
                      </a:pPr>
                      <a:r>
                        <a:rPr lang="en-IN" sz="900"/>
                        <a:t>TEXT</a:t>
                      </a:r>
                    </a:p>
                  </a:txBody>
                  <a:tcPr marL="44437" marR="44437" marT="22218" marB="22218" anchor="ctr"/>
                </a:tc>
                <a:tc>
                  <a:txBody>
                    <a:bodyPr/>
                    <a:lstStyle/>
                    <a:p>
                      <a:pPr>
                        <a:buNone/>
                      </a:pPr>
                      <a:r>
                        <a:rPr lang="en-IN" sz="900"/>
                        <a:t>Destination airport</a:t>
                      </a:r>
                    </a:p>
                  </a:txBody>
                  <a:tcPr marL="44437" marR="44437" marT="22218" marB="22218" anchor="ctr"/>
                </a:tc>
                <a:extLst>
                  <a:ext uri="{0D108BD9-81ED-4DB2-BD59-A6C34878D82A}">
                    <a16:rowId xmlns:a16="http://schemas.microsoft.com/office/drawing/2014/main" val="3669414898"/>
                  </a:ext>
                </a:extLst>
              </a:tr>
              <a:tr h="228600">
                <a:tc>
                  <a:txBody>
                    <a:bodyPr/>
                    <a:lstStyle/>
                    <a:p>
                      <a:pPr>
                        <a:buNone/>
                      </a:pPr>
                      <a:r>
                        <a:rPr lang="en-IN" sz="900"/>
                        <a:t>scheduled_departure</a:t>
                      </a:r>
                    </a:p>
                  </a:txBody>
                  <a:tcPr marL="44437" marR="44437" marT="22218" marB="22218" anchor="ctr"/>
                </a:tc>
                <a:tc>
                  <a:txBody>
                    <a:bodyPr/>
                    <a:lstStyle/>
                    <a:p>
                      <a:pPr>
                        <a:buNone/>
                      </a:pPr>
                      <a:r>
                        <a:rPr lang="en-IN" sz="900"/>
                        <a:t>TIMESTAMP</a:t>
                      </a:r>
                    </a:p>
                  </a:txBody>
                  <a:tcPr marL="44437" marR="44437" marT="22218" marB="22218" anchor="ctr"/>
                </a:tc>
                <a:tc>
                  <a:txBody>
                    <a:bodyPr/>
                    <a:lstStyle/>
                    <a:p>
                      <a:pPr>
                        <a:buNone/>
                      </a:pPr>
                      <a:r>
                        <a:rPr lang="en-IN" sz="900"/>
                        <a:t>Scheduled departure time</a:t>
                      </a:r>
                    </a:p>
                  </a:txBody>
                  <a:tcPr marL="44437" marR="44437" marT="22218" marB="22218" anchor="ctr"/>
                </a:tc>
                <a:extLst>
                  <a:ext uri="{0D108BD9-81ED-4DB2-BD59-A6C34878D82A}">
                    <a16:rowId xmlns:a16="http://schemas.microsoft.com/office/drawing/2014/main" val="2486365516"/>
                  </a:ext>
                </a:extLst>
              </a:tr>
              <a:tr h="228600">
                <a:tc>
                  <a:txBody>
                    <a:bodyPr/>
                    <a:lstStyle/>
                    <a:p>
                      <a:pPr>
                        <a:buNone/>
                      </a:pPr>
                      <a:r>
                        <a:rPr lang="en-IN" sz="900"/>
                        <a:t>actual_departure</a:t>
                      </a:r>
                    </a:p>
                  </a:txBody>
                  <a:tcPr marL="44437" marR="44437" marT="22218" marB="22218" anchor="ctr"/>
                </a:tc>
                <a:tc>
                  <a:txBody>
                    <a:bodyPr/>
                    <a:lstStyle/>
                    <a:p>
                      <a:pPr>
                        <a:buNone/>
                      </a:pPr>
                      <a:r>
                        <a:rPr lang="en-IN" sz="900"/>
                        <a:t>TIMESTAMP (NULL)</a:t>
                      </a:r>
                    </a:p>
                  </a:txBody>
                  <a:tcPr marL="44437" marR="44437" marT="22218" marB="22218" anchor="ctr"/>
                </a:tc>
                <a:tc>
                  <a:txBody>
                    <a:bodyPr/>
                    <a:lstStyle/>
                    <a:p>
                      <a:pPr>
                        <a:buNone/>
                      </a:pPr>
                      <a:r>
                        <a:rPr lang="en-IN" sz="900"/>
                        <a:t>Actual departure time</a:t>
                      </a:r>
                    </a:p>
                  </a:txBody>
                  <a:tcPr marL="44437" marR="44437" marT="22218" marB="22218" anchor="ctr"/>
                </a:tc>
                <a:extLst>
                  <a:ext uri="{0D108BD9-81ED-4DB2-BD59-A6C34878D82A}">
                    <a16:rowId xmlns:a16="http://schemas.microsoft.com/office/drawing/2014/main" val="763485349"/>
                  </a:ext>
                </a:extLst>
              </a:tr>
              <a:tr h="228600">
                <a:tc>
                  <a:txBody>
                    <a:bodyPr/>
                    <a:lstStyle/>
                    <a:p>
                      <a:pPr>
                        <a:buNone/>
                      </a:pPr>
                      <a:r>
                        <a:rPr lang="en-IN" sz="900"/>
                        <a:t>delay_minutes</a:t>
                      </a:r>
                    </a:p>
                  </a:txBody>
                  <a:tcPr marL="44437" marR="44437" marT="22218" marB="22218" anchor="ctr"/>
                </a:tc>
                <a:tc>
                  <a:txBody>
                    <a:bodyPr/>
                    <a:lstStyle/>
                    <a:p>
                      <a:pPr>
                        <a:buNone/>
                      </a:pPr>
                      <a:r>
                        <a:rPr lang="en-IN" sz="900"/>
                        <a:t>INT (NULL)</a:t>
                      </a:r>
                    </a:p>
                  </a:txBody>
                  <a:tcPr marL="44437" marR="44437" marT="22218" marB="22218" anchor="ctr"/>
                </a:tc>
                <a:tc>
                  <a:txBody>
                    <a:bodyPr/>
                    <a:lstStyle/>
                    <a:p>
                      <a:pPr>
                        <a:buNone/>
                      </a:pPr>
                      <a:r>
                        <a:rPr lang="en-IN" sz="900"/>
                        <a:t>Delay in minutes</a:t>
                      </a:r>
                    </a:p>
                  </a:txBody>
                  <a:tcPr marL="44437" marR="44437" marT="22218" marB="22218" anchor="ctr"/>
                </a:tc>
                <a:extLst>
                  <a:ext uri="{0D108BD9-81ED-4DB2-BD59-A6C34878D82A}">
                    <a16:rowId xmlns:a16="http://schemas.microsoft.com/office/drawing/2014/main" val="650668619"/>
                  </a:ext>
                </a:extLst>
              </a:tr>
              <a:tr h="228600">
                <a:tc>
                  <a:txBody>
                    <a:bodyPr/>
                    <a:lstStyle/>
                    <a:p>
                      <a:pPr>
                        <a:buNone/>
                      </a:pPr>
                      <a:r>
                        <a:rPr lang="en-IN" sz="900"/>
                        <a:t>canceled</a:t>
                      </a:r>
                    </a:p>
                  </a:txBody>
                  <a:tcPr marL="44437" marR="44437" marT="22218" marB="22218" anchor="ctr"/>
                </a:tc>
                <a:tc>
                  <a:txBody>
                    <a:bodyPr/>
                    <a:lstStyle/>
                    <a:p>
                      <a:pPr>
                        <a:buNone/>
                      </a:pPr>
                      <a:r>
                        <a:rPr lang="en-IN" sz="900"/>
                        <a:t>BOOLEAN (0 or 1)</a:t>
                      </a:r>
                    </a:p>
                  </a:txBody>
                  <a:tcPr marL="44437" marR="44437" marT="22218" marB="22218" anchor="ctr"/>
                </a:tc>
                <a:tc>
                  <a:txBody>
                    <a:bodyPr/>
                    <a:lstStyle/>
                    <a:p>
                      <a:pPr>
                        <a:buNone/>
                      </a:pPr>
                      <a:r>
                        <a:rPr lang="en-IN" sz="900" dirty="0"/>
                        <a:t>Whether flight was </a:t>
                      </a:r>
                      <a:r>
                        <a:rPr lang="en-IN" sz="900" dirty="0" err="1"/>
                        <a:t>canceled</a:t>
                      </a:r>
                      <a:endParaRPr lang="en-IN" sz="900" dirty="0"/>
                    </a:p>
                  </a:txBody>
                  <a:tcPr marL="44437" marR="44437" marT="22218" marB="22218" anchor="ctr"/>
                </a:tc>
                <a:extLst>
                  <a:ext uri="{0D108BD9-81ED-4DB2-BD59-A6C34878D82A}">
                    <a16:rowId xmlns:a16="http://schemas.microsoft.com/office/drawing/2014/main" val="527592431"/>
                  </a:ext>
                </a:extLst>
              </a:tr>
            </a:tbl>
          </a:graphicData>
        </a:graphic>
      </p:graphicFrame>
      <p:pic>
        <p:nvPicPr>
          <p:cNvPr id="5" name="Content Placeholder 4">
            <a:extLst>
              <a:ext uri="{FF2B5EF4-FFF2-40B4-BE49-F238E27FC236}">
                <a16:creationId xmlns:a16="http://schemas.microsoft.com/office/drawing/2014/main" id="{B66150EF-B7F0-EEEA-ABB4-BEBE1419A23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37509" y="2971800"/>
            <a:ext cx="3741420" cy="2286000"/>
          </a:xfrm>
          <a:prstGeom prst="rect">
            <a:avLst/>
          </a:prstGeom>
        </p:spPr>
      </p:pic>
      <p:sp>
        <p:nvSpPr>
          <p:cNvPr id="8" name="TextBox 7">
            <a:extLst>
              <a:ext uri="{FF2B5EF4-FFF2-40B4-BE49-F238E27FC236}">
                <a16:creationId xmlns:a16="http://schemas.microsoft.com/office/drawing/2014/main" id="{F78F25D1-4945-5B47-F2B8-468368F399B2}"/>
              </a:ext>
            </a:extLst>
          </p:cNvPr>
          <p:cNvSpPr txBox="1"/>
          <p:nvPr/>
        </p:nvSpPr>
        <p:spPr>
          <a:xfrm>
            <a:off x="1202919" y="2077163"/>
            <a:ext cx="7941081" cy="369332"/>
          </a:xfrm>
          <a:prstGeom prst="rect">
            <a:avLst/>
          </a:prstGeom>
          <a:noFill/>
        </p:spPr>
        <p:txBody>
          <a:bodyPr wrap="square">
            <a:spAutoFit/>
          </a:bodyPr>
          <a:lstStyle/>
          <a:p>
            <a:pPr>
              <a:buNone/>
            </a:pPr>
            <a:r>
              <a:rPr lang="en-IN" b="1" dirty="0">
                <a:effectLst/>
              </a:rPr>
              <a:t>Sample Schema (Table: </a:t>
            </a:r>
            <a:r>
              <a:rPr lang="en-IN" b="1" dirty="0">
                <a:solidFill>
                  <a:srgbClr val="EB5757"/>
                </a:solidFill>
                <a:effectLst/>
                <a:latin typeface="SFMono-Regular"/>
              </a:rPr>
              <a:t>flights</a:t>
            </a:r>
            <a:r>
              <a:rPr lang="en-IN" b="1" dirty="0">
                <a:effectLst/>
              </a:rPr>
              <a:t>)</a:t>
            </a:r>
            <a:endParaRPr lang="en-IN" dirty="0"/>
          </a:p>
        </p:txBody>
      </p:sp>
    </p:spTree>
    <p:extLst>
      <p:ext uri="{BB962C8B-B14F-4D97-AF65-F5344CB8AC3E}">
        <p14:creationId xmlns:p14="http://schemas.microsoft.com/office/powerpoint/2010/main" val="2408998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72ADAF-235D-63A3-D4B3-D0C6B31797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954" y="285135"/>
            <a:ext cx="9104671" cy="6243484"/>
          </a:xfrm>
          <a:prstGeom prst="rect">
            <a:avLst/>
          </a:prstGeom>
        </p:spPr>
      </p:pic>
      <p:sp>
        <p:nvSpPr>
          <p:cNvPr id="5" name="TextBox 4">
            <a:extLst>
              <a:ext uri="{FF2B5EF4-FFF2-40B4-BE49-F238E27FC236}">
                <a16:creationId xmlns:a16="http://schemas.microsoft.com/office/drawing/2014/main" id="{3C3EFFAF-73AD-3B24-3FEB-C1C2B30C5E6C}"/>
              </a:ext>
            </a:extLst>
          </p:cNvPr>
          <p:cNvSpPr txBox="1"/>
          <p:nvPr/>
        </p:nvSpPr>
        <p:spPr>
          <a:xfrm>
            <a:off x="9517625" y="1258133"/>
            <a:ext cx="2261421" cy="5078313"/>
          </a:xfrm>
          <a:prstGeom prst="rect">
            <a:avLst/>
          </a:prstGeom>
          <a:noFill/>
        </p:spPr>
        <p:txBody>
          <a:bodyPr wrap="square">
            <a:spAutoFit/>
          </a:bodyPr>
          <a:lstStyle/>
          <a:p>
            <a:pPr marL="285750" indent="-285750">
              <a:buFont typeface="Arial" panose="020B0604020202020204" pitchFamily="34" charset="0"/>
              <a:buChar char="•"/>
            </a:pPr>
            <a:r>
              <a:rPr lang="en-US" dirty="0">
                <a:latin typeface="+mj-lt"/>
              </a:rPr>
              <a:t>Use of </a:t>
            </a:r>
            <a:r>
              <a:rPr lang="en-US" dirty="0"/>
              <a:t>IS NULL</a:t>
            </a:r>
          </a:p>
          <a:p>
            <a:r>
              <a:rPr lang="en-US" dirty="0"/>
              <a:t>, WHERE</a:t>
            </a:r>
          </a:p>
          <a:p>
            <a:r>
              <a:rPr lang="en-US" dirty="0"/>
              <a:t>, basic filtering.</a:t>
            </a:r>
          </a:p>
          <a:p>
            <a:endParaRPr lang="en-US" dirty="0">
              <a:latin typeface="+mj-lt"/>
            </a:endParaRPr>
          </a:p>
          <a:p>
            <a:pPr marL="285750" indent="-285750">
              <a:buFont typeface="Arial" panose="020B0604020202020204" pitchFamily="34" charset="0"/>
              <a:buChar char="•"/>
            </a:pPr>
            <a:r>
              <a:rPr lang="en-US" dirty="0">
                <a:latin typeface="+mj-lt"/>
              </a:rPr>
              <a:t>The query identified flights with missing </a:t>
            </a:r>
            <a:r>
              <a:rPr lang="en-US" dirty="0" err="1">
                <a:latin typeface="+mj-lt"/>
              </a:rPr>
              <a:t>actual_departure</a:t>
            </a:r>
            <a:r>
              <a:rPr lang="en-US" dirty="0">
                <a:latin typeface="+mj-lt"/>
              </a:rPr>
              <a:t> or </a:t>
            </a:r>
            <a:r>
              <a:rPr lang="en-US" dirty="0" err="1">
                <a:latin typeface="+mj-lt"/>
              </a:rPr>
              <a:t>delay_minutes</a:t>
            </a:r>
            <a:r>
              <a:rPr lang="en-US" dirty="0">
                <a:latin typeface="+mj-lt"/>
              </a:rPr>
              <a:t> values. All such records were canceled, highlighting data gaps that could distort delay metrics and needed cleaning before analysis.</a:t>
            </a:r>
            <a:endParaRPr lang="en-IN" dirty="0">
              <a:latin typeface="+mj-lt"/>
            </a:endParaRPr>
          </a:p>
        </p:txBody>
      </p:sp>
    </p:spTree>
    <p:extLst>
      <p:ext uri="{BB962C8B-B14F-4D97-AF65-F5344CB8AC3E}">
        <p14:creationId xmlns:p14="http://schemas.microsoft.com/office/powerpoint/2010/main" val="3163525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12C9DA-5B86-75C6-FEE7-7B165727CB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879" y="541635"/>
            <a:ext cx="7520940" cy="3375660"/>
          </a:xfrm>
          <a:prstGeom prst="rect">
            <a:avLst/>
          </a:prstGeom>
        </p:spPr>
      </p:pic>
      <p:sp>
        <p:nvSpPr>
          <p:cNvPr id="5" name="TextBox 4">
            <a:extLst>
              <a:ext uri="{FF2B5EF4-FFF2-40B4-BE49-F238E27FC236}">
                <a16:creationId xmlns:a16="http://schemas.microsoft.com/office/drawing/2014/main" id="{6611B0E6-B8AB-8904-F31C-2386A29B8895}"/>
              </a:ext>
            </a:extLst>
          </p:cNvPr>
          <p:cNvSpPr txBox="1"/>
          <p:nvPr/>
        </p:nvSpPr>
        <p:spPr>
          <a:xfrm>
            <a:off x="673878" y="4365127"/>
            <a:ext cx="7693373" cy="1477328"/>
          </a:xfrm>
          <a:prstGeom prst="rect">
            <a:avLst/>
          </a:prstGeom>
          <a:noFill/>
        </p:spPr>
        <p:txBody>
          <a:bodyPr wrap="square">
            <a:spAutoFit/>
          </a:bodyPr>
          <a:lstStyle/>
          <a:p>
            <a:pPr marL="285750" indent="-285750">
              <a:buFont typeface="Arial" panose="020B0604020202020204" pitchFamily="34" charset="0"/>
              <a:buChar char="•"/>
            </a:pPr>
            <a:r>
              <a:rPr lang="en-US" dirty="0"/>
              <a:t>Use of AVG(), GROUP BY, filtering with  WHERE</a:t>
            </a:r>
          </a:p>
          <a:p>
            <a:endParaRPr lang="en-US" dirty="0"/>
          </a:p>
          <a:p>
            <a:pPr marL="285750" indent="-285750">
              <a:buFont typeface="Arial" panose="020B0604020202020204" pitchFamily="34" charset="0"/>
              <a:buChar char="•"/>
            </a:pPr>
            <a:r>
              <a:rPr lang="en-US" dirty="0"/>
              <a:t>The query calculated average delays for non‑canceled flights. Alaska Airlines showed the highest average delay (48 mins), while American Airlines had the lowest (39 mins), revealing performance differences across carriers.</a:t>
            </a:r>
            <a:endParaRPr lang="en-IN" dirty="0"/>
          </a:p>
        </p:txBody>
      </p:sp>
    </p:spTree>
    <p:extLst>
      <p:ext uri="{BB962C8B-B14F-4D97-AF65-F5344CB8AC3E}">
        <p14:creationId xmlns:p14="http://schemas.microsoft.com/office/powerpoint/2010/main" val="2777549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F7CF68-4E52-EE71-934A-D642FD7F75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889" y="533031"/>
            <a:ext cx="8633460" cy="4061460"/>
          </a:xfrm>
          <a:prstGeom prst="rect">
            <a:avLst/>
          </a:prstGeom>
        </p:spPr>
      </p:pic>
      <p:sp>
        <p:nvSpPr>
          <p:cNvPr id="5" name="TextBox 4">
            <a:extLst>
              <a:ext uri="{FF2B5EF4-FFF2-40B4-BE49-F238E27FC236}">
                <a16:creationId xmlns:a16="http://schemas.microsoft.com/office/drawing/2014/main" id="{F50EE91F-6527-C8AB-50E7-23747256A222}"/>
              </a:ext>
            </a:extLst>
          </p:cNvPr>
          <p:cNvSpPr txBox="1"/>
          <p:nvPr/>
        </p:nvSpPr>
        <p:spPr>
          <a:xfrm>
            <a:off x="687889" y="4915733"/>
            <a:ext cx="8633460" cy="1477328"/>
          </a:xfrm>
          <a:prstGeom prst="rect">
            <a:avLst/>
          </a:prstGeom>
          <a:noFill/>
        </p:spPr>
        <p:txBody>
          <a:bodyPr wrap="square">
            <a:spAutoFit/>
          </a:bodyPr>
          <a:lstStyle/>
          <a:p>
            <a:pPr marL="285750" indent="-285750">
              <a:buFont typeface="Arial" panose="020B0604020202020204" pitchFamily="34" charset="0"/>
              <a:buChar char="•"/>
            </a:pPr>
            <a:r>
              <a:rPr lang="en-US" dirty="0"/>
              <a:t>Use of EXTRACT(HOUR), CASE WHEN, grouping </a:t>
            </a:r>
          </a:p>
          <a:p>
            <a:endParaRPr lang="en-US" dirty="0">
              <a:effectLst/>
            </a:endParaRPr>
          </a:p>
          <a:p>
            <a:pPr marL="285750" indent="-285750">
              <a:buFont typeface="Arial" panose="020B0604020202020204" pitchFamily="34" charset="0"/>
              <a:buChar char="•"/>
            </a:pPr>
            <a:r>
              <a:rPr lang="en-US" dirty="0">
                <a:effectLst/>
              </a:rPr>
              <a:t>The query grouped delays by morning, afternoon, and evening departures. Results showed evening flights had the worst delays (44.8 mins), followed by morning and afternoon, indicating time‑based operational bottlenecks.</a:t>
            </a:r>
            <a:endParaRPr lang="en-US" dirty="0"/>
          </a:p>
        </p:txBody>
      </p:sp>
    </p:spTree>
    <p:extLst>
      <p:ext uri="{BB962C8B-B14F-4D97-AF65-F5344CB8AC3E}">
        <p14:creationId xmlns:p14="http://schemas.microsoft.com/office/powerpoint/2010/main" val="3327706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49476B-5DC1-D9BB-44A1-C39AF6BA26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839" y="468015"/>
            <a:ext cx="8282940" cy="4663440"/>
          </a:xfrm>
          <a:prstGeom prst="rect">
            <a:avLst/>
          </a:prstGeom>
        </p:spPr>
      </p:pic>
      <p:sp>
        <p:nvSpPr>
          <p:cNvPr id="5" name="TextBox 4">
            <a:extLst>
              <a:ext uri="{FF2B5EF4-FFF2-40B4-BE49-F238E27FC236}">
                <a16:creationId xmlns:a16="http://schemas.microsoft.com/office/drawing/2014/main" id="{41EC1B75-657B-DE52-CE11-A63214A6FD7F}"/>
              </a:ext>
            </a:extLst>
          </p:cNvPr>
          <p:cNvSpPr txBox="1"/>
          <p:nvPr/>
        </p:nvSpPr>
        <p:spPr>
          <a:xfrm>
            <a:off x="646839" y="5278146"/>
            <a:ext cx="8282940" cy="923330"/>
          </a:xfrm>
          <a:prstGeom prst="rect">
            <a:avLst/>
          </a:prstGeom>
          <a:noFill/>
        </p:spPr>
        <p:txBody>
          <a:bodyPr wrap="square">
            <a:spAutoFit/>
          </a:bodyPr>
          <a:lstStyle/>
          <a:p>
            <a:r>
              <a:rPr lang="en-US" dirty="0"/>
              <a:t>The query ranked airports by average delay times. Miami (MIA) and Phoenix (PHX) showed the highest delays (~49 mins), while Atlanta (ATL) had the lowest (~35 mins), highlighting airport‑specific performance issues.</a:t>
            </a:r>
            <a:endParaRPr lang="en-IN" dirty="0"/>
          </a:p>
        </p:txBody>
      </p:sp>
    </p:spTree>
    <p:extLst>
      <p:ext uri="{BB962C8B-B14F-4D97-AF65-F5344CB8AC3E}">
        <p14:creationId xmlns:p14="http://schemas.microsoft.com/office/powerpoint/2010/main" val="1506203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C1DC04-8AE5-38BE-A604-B2D691E262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611" y="404229"/>
            <a:ext cx="9425940" cy="5341620"/>
          </a:xfrm>
          <a:prstGeom prst="rect">
            <a:avLst/>
          </a:prstGeom>
        </p:spPr>
      </p:pic>
      <p:sp>
        <p:nvSpPr>
          <p:cNvPr id="5" name="TextBox 4">
            <a:extLst>
              <a:ext uri="{FF2B5EF4-FFF2-40B4-BE49-F238E27FC236}">
                <a16:creationId xmlns:a16="http://schemas.microsoft.com/office/drawing/2014/main" id="{C25FD8A4-7734-91BE-685D-A1E0409F2A54}"/>
              </a:ext>
            </a:extLst>
          </p:cNvPr>
          <p:cNvSpPr txBox="1"/>
          <p:nvPr/>
        </p:nvSpPr>
        <p:spPr>
          <a:xfrm>
            <a:off x="645611" y="5657671"/>
            <a:ext cx="9425940" cy="923330"/>
          </a:xfrm>
          <a:prstGeom prst="rect">
            <a:avLst/>
          </a:prstGeom>
          <a:noFill/>
        </p:spPr>
        <p:txBody>
          <a:bodyPr wrap="square">
            <a:spAutoFit/>
          </a:bodyPr>
          <a:lstStyle/>
          <a:p>
            <a:r>
              <a:rPr lang="en-US" dirty="0"/>
              <a:t>The query calculated cancellation rates per airline. United had the highest cancellation rate (16.36%), while Delta had the lowest (6.74%), showing clear differences in reliability across carriers.</a:t>
            </a:r>
            <a:endParaRPr lang="en-IN" dirty="0"/>
          </a:p>
        </p:txBody>
      </p:sp>
    </p:spTree>
    <p:extLst>
      <p:ext uri="{BB962C8B-B14F-4D97-AF65-F5344CB8AC3E}">
        <p14:creationId xmlns:p14="http://schemas.microsoft.com/office/powerpoint/2010/main" val="1989055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366964-1F10-5AD5-F3A9-F82B81A9C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844" y="500094"/>
            <a:ext cx="9395460" cy="4579620"/>
          </a:xfrm>
          <a:prstGeom prst="rect">
            <a:avLst/>
          </a:prstGeom>
        </p:spPr>
      </p:pic>
      <p:sp>
        <p:nvSpPr>
          <p:cNvPr id="5" name="TextBox 4">
            <a:extLst>
              <a:ext uri="{FF2B5EF4-FFF2-40B4-BE49-F238E27FC236}">
                <a16:creationId xmlns:a16="http://schemas.microsoft.com/office/drawing/2014/main" id="{3FA28948-C66F-ADE3-4F5A-642AA25C5A03}"/>
              </a:ext>
            </a:extLst>
          </p:cNvPr>
          <p:cNvSpPr txBox="1"/>
          <p:nvPr/>
        </p:nvSpPr>
        <p:spPr>
          <a:xfrm>
            <a:off x="639096" y="5157577"/>
            <a:ext cx="9476207" cy="923330"/>
          </a:xfrm>
          <a:prstGeom prst="rect">
            <a:avLst/>
          </a:prstGeom>
          <a:noFill/>
        </p:spPr>
        <p:txBody>
          <a:bodyPr wrap="square">
            <a:spAutoFit/>
          </a:bodyPr>
          <a:lstStyle/>
          <a:p>
            <a:pPr>
              <a:buNone/>
            </a:pPr>
            <a:r>
              <a:rPr lang="en-US" dirty="0">
                <a:effectLst/>
              </a:rPr>
              <a:t>The summary combined average delays and cancellation rates. Alaska Airlines had the worst delays (48 mins), while United had both high delays and the highest cancellation rate, making them key focus areas for improvement.</a:t>
            </a:r>
            <a:endParaRPr lang="en-US" dirty="0"/>
          </a:p>
        </p:txBody>
      </p:sp>
    </p:spTree>
    <p:extLst>
      <p:ext uri="{BB962C8B-B14F-4D97-AF65-F5344CB8AC3E}">
        <p14:creationId xmlns:p14="http://schemas.microsoft.com/office/powerpoint/2010/main" val="2780819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726886-4238-0CA6-E586-AE8E0BB4C3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961" y="235974"/>
            <a:ext cx="11572568" cy="6430297"/>
          </a:xfrm>
          <a:prstGeom prst="rect">
            <a:avLst/>
          </a:prstGeom>
        </p:spPr>
      </p:pic>
    </p:spTree>
    <p:extLst>
      <p:ext uri="{BB962C8B-B14F-4D97-AF65-F5344CB8AC3E}">
        <p14:creationId xmlns:p14="http://schemas.microsoft.com/office/powerpoint/2010/main" val="2800833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797CD-6B24-8529-B13F-2D5118190DA9}"/>
              </a:ext>
            </a:extLst>
          </p:cNvPr>
          <p:cNvSpPr>
            <a:spLocks noGrp="1"/>
          </p:cNvSpPr>
          <p:nvPr>
            <p:ph type="title"/>
          </p:nvPr>
        </p:nvSpPr>
        <p:spPr/>
        <p:txBody>
          <a:bodyPr/>
          <a:lstStyle/>
          <a:p>
            <a:r>
              <a:rPr lang="en-IN" dirty="0"/>
              <a:t>Dashboard Highlights</a:t>
            </a:r>
          </a:p>
        </p:txBody>
      </p:sp>
      <p:sp>
        <p:nvSpPr>
          <p:cNvPr id="4" name="Rectangle 1">
            <a:extLst>
              <a:ext uri="{FF2B5EF4-FFF2-40B4-BE49-F238E27FC236}">
                <a16:creationId xmlns:a16="http://schemas.microsoft.com/office/drawing/2014/main" id="{3ECFC6AA-6FE2-62FD-BB39-A54F7ABCB096}"/>
              </a:ext>
            </a:extLst>
          </p:cNvPr>
          <p:cNvSpPr>
            <a:spLocks noGrp="1" noChangeArrowheads="1"/>
          </p:cNvSpPr>
          <p:nvPr>
            <p:ph idx="1"/>
          </p:nvPr>
        </p:nvSpPr>
        <p:spPr bwMode="auto">
          <a:xfrm>
            <a:off x="816077" y="1881295"/>
            <a:ext cx="1079283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Built an automated </a:t>
            </a:r>
            <a:r>
              <a:rPr kumimoji="0" lang="en-US" altLang="en-US" sz="1800" b="1" i="0" u="none" strike="noStrike" cap="none" normalizeH="0" baseline="0" dirty="0">
                <a:ln>
                  <a:noFill/>
                </a:ln>
                <a:solidFill>
                  <a:schemeClr val="tx1"/>
                </a:solidFill>
                <a:effectLst/>
              </a:rPr>
              <a:t>Power BI dashboard</a:t>
            </a:r>
            <a:r>
              <a:rPr kumimoji="0" lang="en-US" altLang="en-US" sz="1800" b="0" i="0" u="none" strike="noStrike" cap="none" normalizeH="0" baseline="0" dirty="0">
                <a:ln>
                  <a:noFill/>
                </a:ln>
                <a:solidFill>
                  <a:schemeClr val="tx1"/>
                </a:solidFill>
                <a:effectLst/>
              </a:rPr>
              <a:t> for Flight Delay &amp; Cancellation Analysis with</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chemeClr val="tx1"/>
                </a:solidFill>
                <a:effectLst/>
              </a:rPr>
              <a:t>4 KPIs</a:t>
            </a:r>
            <a:r>
              <a:rPr kumimoji="0" lang="en-US" altLang="en-US"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Total Flights = 500,</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 Canceled=11.80%,</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Avg Delay (Minutes)=43.77,</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 % Delayed=68.40%.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Line chart shows </a:t>
            </a:r>
            <a:r>
              <a:rPr kumimoji="0" lang="en-US" altLang="en-US" sz="1800" b="1" i="0" u="none" strike="noStrike" cap="none" normalizeH="0" baseline="0" dirty="0">
                <a:ln>
                  <a:noFill/>
                </a:ln>
                <a:solidFill>
                  <a:schemeClr val="tx1"/>
                </a:solidFill>
                <a:effectLst/>
              </a:rPr>
              <a:t>% Canceled by Month</a:t>
            </a:r>
            <a:r>
              <a:rPr kumimoji="0" lang="en-US" altLang="en-US" sz="1800" b="0" i="0" u="none" strike="noStrike" cap="none" normalizeH="0" baseline="0" dirty="0">
                <a:ln>
                  <a:noFill/>
                </a:ln>
                <a:solidFill>
                  <a:schemeClr val="tx1"/>
                </a:solidFill>
                <a:effectLst/>
              </a:rPr>
              <a:t> → June recorded the highest cancellation rate.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Line chart shows </a:t>
            </a:r>
            <a:r>
              <a:rPr kumimoji="0" lang="en-US" altLang="en-US" sz="1800" b="1" i="0" u="none" strike="noStrike" cap="none" normalizeH="0" baseline="0" dirty="0">
                <a:ln>
                  <a:noFill/>
                </a:ln>
                <a:solidFill>
                  <a:schemeClr val="tx1"/>
                </a:solidFill>
                <a:effectLst/>
              </a:rPr>
              <a:t>% Delayed by Month</a:t>
            </a:r>
            <a:r>
              <a:rPr kumimoji="0" lang="en-US" altLang="en-US" sz="1800" b="0" i="0" u="none" strike="noStrike" cap="none" normalizeH="0" baseline="0" dirty="0">
                <a:ln>
                  <a:noFill/>
                </a:ln>
                <a:solidFill>
                  <a:schemeClr val="tx1"/>
                </a:solidFill>
                <a:effectLst/>
              </a:rPr>
              <a:t> → March had the highest delay percentage.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Bar chart highlights </a:t>
            </a:r>
            <a:r>
              <a:rPr kumimoji="0" lang="en-US" altLang="en-US" sz="1800" b="1" i="0" u="none" strike="noStrike" cap="none" normalizeH="0" baseline="0" dirty="0">
                <a:ln>
                  <a:noFill/>
                </a:ln>
                <a:solidFill>
                  <a:schemeClr val="tx1"/>
                </a:solidFill>
                <a:effectLst/>
              </a:rPr>
              <a:t>MIA airport</a:t>
            </a:r>
            <a:r>
              <a:rPr kumimoji="0" lang="en-US" altLang="en-US" sz="1800" b="0" i="0" u="none" strike="noStrike" cap="none" normalizeH="0" baseline="0" dirty="0">
                <a:ln>
                  <a:noFill/>
                </a:ln>
                <a:solidFill>
                  <a:schemeClr val="tx1"/>
                </a:solidFill>
                <a:effectLst/>
              </a:rPr>
              <a:t> with the highest average delay (49 minutes).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Table matrix displays </a:t>
            </a:r>
            <a:r>
              <a:rPr kumimoji="0" lang="en-US" altLang="en-US" sz="1800" b="1" i="0" u="none" strike="noStrike" cap="none" normalizeH="0" baseline="0" dirty="0">
                <a:ln>
                  <a:noFill/>
                </a:ln>
                <a:solidFill>
                  <a:schemeClr val="tx1"/>
                </a:solidFill>
                <a:effectLst/>
              </a:rPr>
              <a:t>Route‑wise % Canceled and % Delayed</a:t>
            </a:r>
            <a:r>
              <a:rPr kumimoji="0" lang="en-US" altLang="en-US" sz="1800" b="0" i="0" u="none" strike="noStrike" cap="none" normalizeH="0" baseline="0" dirty="0">
                <a:ln>
                  <a:noFill/>
                </a:ln>
                <a:solidFill>
                  <a:schemeClr val="tx1"/>
                </a:solidFill>
                <a:effectLst/>
              </a:rPr>
              <a:t>, surfacing problem routes (e.g., ATL → JFK).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Heatmap matrix shows </a:t>
            </a:r>
            <a:r>
              <a:rPr kumimoji="0" lang="en-US" altLang="en-US" sz="1800" b="1" i="0" u="none" strike="noStrike" cap="none" normalizeH="0" baseline="0" dirty="0">
                <a:ln>
                  <a:noFill/>
                </a:ln>
                <a:solidFill>
                  <a:schemeClr val="tx1"/>
                </a:solidFill>
                <a:effectLst/>
              </a:rPr>
              <a:t>Avg Delay by Hour (0–23) and Day of Week</a:t>
            </a:r>
            <a:r>
              <a:rPr kumimoji="0" lang="en-US" altLang="en-US" sz="1800" b="0" i="0" u="none" strike="noStrike" cap="none" normalizeH="0" baseline="0" dirty="0">
                <a:ln>
                  <a:noFill/>
                </a:ln>
                <a:solidFill>
                  <a:schemeClr val="tx1"/>
                </a:solidFill>
                <a:effectLst/>
              </a:rPr>
              <a:t>, revealing spikes between 3–6 PM.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Interactive slicers added for </a:t>
            </a:r>
            <a:r>
              <a:rPr kumimoji="0" lang="en-US" altLang="en-US" sz="1800" b="1" i="0" u="none" strike="noStrike" cap="none" normalizeH="0" baseline="0" dirty="0">
                <a:ln>
                  <a:noFill/>
                </a:ln>
                <a:solidFill>
                  <a:schemeClr val="tx1"/>
                </a:solidFill>
                <a:effectLst/>
              </a:rPr>
              <a:t>Airline, Origin, Destination, Time, and Day filters</a:t>
            </a:r>
            <a:r>
              <a:rPr kumimoji="0" lang="en-US" altLang="en-US" sz="1800" b="0" i="0" u="none" strike="noStrike" cap="none" normalizeH="0" baseline="0" dirty="0">
                <a:ln>
                  <a:noFill/>
                </a:ln>
                <a:solidFill>
                  <a:schemeClr val="tx1"/>
                </a:solidFill>
                <a:effectLst/>
              </a:rPr>
              <a:t> to drill down insights.</a:t>
            </a:r>
          </a:p>
        </p:txBody>
      </p:sp>
    </p:spTree>
    <p:extLst>
      <p:ext uri="{BB962C8B-B14F-4D97-AF65-F5344CB8AC3E}">
        <p14:creationId xmlns:p14="http://schemas.microsoft.com/office/powerpoint/2010/main" val="1466252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E49A9-0E5B-8248-A674-A440627E249A}"/>
              </a:ext>
            </a:extLst>
          </p:cNvPr>
          <p:cNvSpPr>
            <a:spLocks noGrp="1"/>
          </p:cNvSpPr>
          <p:nvPr>
            <p:ph type="title"/>
          </p:nvPr>
        </p:nvSpPr>
        <p:spPr/>
        <p:txBody>
          <a:bodyPr/>
          <a:lstStyle/>
          <a:p>
            <a:r>
              <a:rPr lang="en-IN" dirty="0"/>
              <a:t>Functional Uses (DAX formula)</a:t>
            </a:r>
          </a:p>
        </p:txBody>
      </p:sp>
      <p:sp>
        <p:nvSpPr>
          <p:cNvPr id="3" name="Content Placeholder 2">
            <a:extLst>
              <a:ext uri="{FF2B5EF4-FFF2-40B4-BE49-F238E27FC236}">
                <a16:creationId xmlns:a16="http://schemas.microsoft.com/office/drawing/2014/main" id="{DF467295-1879-726C-1E54-6C4DB98420A5}"/>
              </a:ext>
            </a:extLst>
          </p:cNvPr>
          <p:cNvSpPr>
            <a:spLocks noGrp="1"/>
          </p:cNvSpPr>
          <p:nvPr>
            <p:ph sz="half" idx="1"/>
          </p:nvPr>
        </p:nvSpPr>
        <p:spPr/>
        <p:txBody>
          <a:bodyPr>
            <a:normAutofit fontScale="92500" lnSpcReduction="10000"/>
          </a:bodyPr>
          <a:lstStyle/>
          <a:p>
            <a:pPr marL="0" indent="0">
              <a:buNone/>
            </a:pPr>
            <a:r>
              <a:rPr lang="en-US" b="1" dirty="0">
                <a:latin typeface="+mj-lt"/>
              </a:rPr>
              <a:t>Calculated Columns:</a:t>
            </a:r>
            <a:endParaRPr lang="en-US" dirty="0">
              <a:latin typeface="+mj-lt"/>
            </a:endParaRPr>
          </a:p>
          <a:p>
            <a:r>
              <a:rPr lang="en-US" i="1" dirty="0"/>
              <a:t>Departure Hour</a:t>
            </a:r>
            <a:r>
              <a:rPr lang="en-US" dirty="0"/>
              <a:t> = HOUR('flights'[</a:t>
            </a:r>
            <a:r>
              <a:rPr lang="en-US" dirty="0" err="1"/>
              <a:t>scheduled_departure</a:t>
            </a:r>
            <a:r>
              <a:rPr lang="en-US" dirty="0"/>
              <a:t>])</a:t>
            </a:r>
          </a:p>
          <a:p>
            <a:r>
              <a:rPr lang="en-US" i="1" dirty="0"/>
              <a:t>Day of Week</a:t>
            </a:r>
            <a:r>
              <a:rPr lang="en-US" dirty="0"/>
              <a:t> = FORMAT('flights'[</a:t>
            </a:r>
            <a:r>
              <a:rPr lang="en-US" dirty="0" err="1"/>
              <a:t>scheduled_departure</a:t>
            </a:r>
            <a:r>
              <a:rPr lang="en-US" dirty="0"/>
              <a:t>], "</a:t>
            </a:r>
            <a:r>
              <a:rPr lang="en-US" dirty="0" err="1"/>
              <a:t>dddd</a:t>
            </a:r>
            <a:r>
              <a:rPr lang="en-US" dirty="0"/>
              <a:t>")</a:t>
            </a:r>
          </a:p>
          <a:p>
            <a:r>
              <a:rPr lang="en-US" i="1" dirty="0"/>
              <a:t>Route</a:t>
            </a:r>
            <a:r>
              <a:rPr lang="en-US" dirty="0"/>
              <a:t> = 'flights'[origin] &amp; " → " &amp; 'flights'[destination]</a:t>
            </a:r>
          </a:p>
          <a:p>
            <a:r>
              <a:rPr lang="en-US" i="1" dirty="0"/>
              <a:t>Is Delayed</a:t>
            </a:r>
            <a:r>
              <a:rPr lang="en-US" dirty="0"/>
              <a:t> = IF('flights'[</a:t>
            </a:r>
            <a:r>
              <a:rPr lang="en-US" dirty="0" err="1"/>
              <a:t>delay_minutes</a:t>
            </a:r>
            <a:r>
              <a:rPr lang="en-US" dirty="0"/>
              <a:t>] &gt; 15, "Yes", "No")</a:t>
            </a:r>
          </a:p>
          <a:p>
            <a:endParaRPr lang="en-IN" dirty="0"/>
          </a:p>
        </p:txBody>
      </p:sp>
      <p:sp>
        <p:nvSpPr>
          <p:cNvPr id="4" name="Content Placeholder 3">
            <a:extLst>
              <a:ext uri="{FF2B5EF4-FFF2-40B4-BE49-F238E27FC236}">
                <a16:creationId xmlns:a16="http://schemas.microsoft.com/office/drawing/2014/main" id="{F68F7BD2-07A0-C528-D54B-F53634555D47}"/>
              </a:ext>
            </a:extLst>
          </p:cNvPr>
          <p:cNvSpPr>
            <a:spLocks noGrp="1"/>
          </p:cNvSpPr>
          <p:nvPr>
            <p:ph sz="half" idx="2"/>
          </p:nvPr>
        </p:nvSpPr>
        <p:spPr/>
        <p:txBody>
          <a:bodyPr>
            <a:normAutofit fontScale="92500" lnSpcReduction="10000"/>
          </a:bodyPr>
          <a:lstStyle/>
          <a:p>
            <a:pPr marL="0" indent="0">
              <a:buNone/>
            </a:pPr>
            <a:r>
              <a:rPr lang="en-US" b="1" dirty="0">
                <a:latin typeface="+mj-lt"/>
              </a:rPr>
              <a:t>Key Measures:</a:t>
            </a:r>
            <a:endParaRPr lang="en-US" dirty="0">
              <a:latin typeface="+mj-lt"/>
            </a:endParaRPr>
          </a:p>
          <a:p>
            <a:r>
              <a:rPr lang="en-US" i="1" dirty="0"/>
              <a:t>Total Flights</a:t>
            </a:r>
            <a:r>
              <a:rPr lang="en-US" dirty="0"/>
              <a:t> = COUNTROWS('flights')</a:t>
            </a:r>
          </a:p>
          <a:p>
            <a:r>
              <a:rPr lang="en-US" i="1" dirty="0"/>
              <a:t>Avg Delay (Minutes)</a:t>
            </a:r>
            <a:r>
              <a:rPr lang="en-US" dirty="0"/>
              <a:t> = AVERAGE('flights'[</a:t>
            </a:r>
            <a:r>
              <a:rPr lang="en-US" dirty="0" err="1"/>
              <a:t>delay_minutes</a:t>
            </a:r>
            <a:r>
              <a:rPr lang="en-US" dirty="0"/>
              <a:t>])</a:t>
            </a:r>
          </a:p>
          <a:p>
            <a:r>
              <a:rPr lang="en-US" i="1" dirty="0"/>
              <a:t>Total Cancellations</a:t>
            </a:r>
            <a:r>
              <a:rPr lang="en-US" dirty="0"/>
              <a:t> = CALCULATE([Total Flights], 'flights'[canceled] = 1)</a:t>
            </a:r>
          </a:p>
          <a:p>
            <a:r>
              <a:rPr lang="en-US" i="1" dirty="0"/>
              <a:t>% Canceled</a:t>
            </a:r>
            <a:r>
              <a:rPr lang="en-US" dirty="0"/>
              <a:t> = DIVIDE([Total Cancellations], [Total Flights])</a:t>
            </a:r>
          </a:p>
          <a:p>
            <a:r>
              <a:rPr lang="en-US" i="1" dirty="0"/>
              <a:t>Delayed Flights</a:t>
            </a:r>
            <a:r>
              <a:rPr lang="en-US" dirty="0"/>
              <a:t> = CALCULATE([Total Flights], 'flights'[</a:t>
            </a:r>
            <a:r>
              <a:rPr lang="en-US" dirty="0" err="1"/>
              <a:t>Is_Delayed</a:t>
            </a:r>
            <a:r>
              <a:rPr lang="en-US" dirty="0"/>
              <a:t>] = "Yes")</a:t>
            </a:r>
          </a:p>
          <a:p>
            <a:r>
              <a:rPr lang="en-US" i="1" dirty="0"/>
              <a:t>% Delayed</a:t>
            </a:r>
            <a:r>
              <a:rPr lang="en-US" dirty="0"/>
              <a:t> = DIVIDE([Delayed Flights], [Total Flights])</a:t>
            </a:r>
          </a:p>
          <a:p>
            <a:endParaRPr lang="en-IN" dirty="0"/>
          </a:p>
        </p:txBody>
      </p:sp>
    </p:spTree>
    <p:extLst>
      <p:ext uri="{BB962C8B-B14F-4D97-AF65-F5344CB8AC3E}">
        <p14:creationId xmlns:p14="http://schemas.microsoft.com/office/powerpoint/2010/main" val="2944262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E9EE-A724-5F2D-3738-71CB5C02D4DD}"/>
              </a:ext>
            </a:extLst>
          </p:cNvPr>
          <p:cNvSpPr>
            <a:spLocks noGrp="1"/>
          </p:cNvSpPr>
          <p:nvPr>
            <p:ph type="title"/>
          </p:nvPr>
        </p:nvSpPr>
        <p:spPr/>
        <p:txBody>
          <a:bodyPr/>
          <a:lstStyle/>
          <a:p>
            <a:r>
              <a:rPr lang="en-US" dirty="0"/>
              <a:t>Executive Summary</a:t>
            </a:r>
            <a:endParaRPr lang="en-IN" dirty="0"/>
          </a:p>
        </p:txBody>
      </p:sp>
      <p:sp>
        <p:nvSpPr>
          <p:cNvPr id="4" name="TextBox 3">
            <a:extLst>
              <a:ext uri="{FF2B5EF4-FFF2-40B4-BE49-F238E27FC236}">
                <a16:creationId xmlns:a16="http://schemas.microsoft.com/office/drawing/2014/main" id="{796F0361-51E2-62D8-9F1A-61B7C9547439}"/>
              </a:ext>
            </a:extLst>
          </p:cNvPr>
          <p:cNvSpPr txBox="1"/>
          <p:nvPr/>
        </p:nvSpPr>
        <p:spPr>
          <a:xfrm>
            <a:off x="609600" y="2025554"/>
            <a:ext cx="10972800" cy="4093428"/>
          </a:xfrm>
          <a:prstGeom prst="rect">
            <a:avLst/>
          </a:prstGeom>
          <a:noFill/>
        </p:spPr>
        <p:txBody>
          <a:bodyPr wrap="square">
            <a:spAutoFit/>
          </a:bodyPr>
          <a:lstStyle/>
          <a:p>
            <a:pPr>
              <a:buFont typeface="Arial" panose="020B0604020202020204" pitchFamily="34" charset="0"/>
              <a:buChar char="•"/>
            </a:pPr>
            <a:r>
              <a:rPr lang="en-US" sz="2000" b="1" dirty="0">
                <a:effectLst/>
              </a:rPr>
              <a:t>Purpose:</a:t>
            </a:r>
            <a:r>
              <a:rPr lang="en-US" sz="2000" dirty="0">
                <a:effectLst/>
              </a:rPr>
              <a:t> To identify root causes of flight delays and cancellations and provide actionable insights.</a:t>
            </a:r>
            <a:endParaRPr lang="en-US" sz="2000" dirty="0"/>
          </a:p>
          <a:p>
            <a:pPr>
              <a:buFont typeface="Arial" panose="020B0604020202020204" pitchFamily="34" charset="0"/>
              <a:buChar char="•"/>
            </a:pPr>
            <a:r>
              <a:rPr lang="en-US" sz="2000" b="1" dirty="0">
                <a:effectLst/>
              </a:rPr>
              <a:t>Scope:</a:t>
            </a:r>
            <a:r>
              <a:rPr lang="en-US" sz="2000" dirty="0">
                <a:effectLst/>
              </a:rPr>
              <a:t> Analysis of 500 flights across multiple airlines, routes, and time periods.</a:t>
            </a:r>
            <a:endParaRPr lang="en-US" sz="2000" dirty="0"/>
          </a:p>
          <a:p>
            <a:pPr>
              <a:buFont typeface="Arial" panose="020B0604020202020204" pitchFamily="34" charset="0"/>
              <a:buChar char="•"/>
            </a:pPr>
            <a:r>
              <a:rPr lang="en-US" sz="2000" b="1" dirty="0">
                <a:effectLst/>
              </a:rPr>
              <a:t>Key KPIs:</a:t>
            </a:r>
            <a:endParaRPr lang="en-US" sz="2000" dirty="0"/>
          </a:p>
          <a:p>
            <a:pPr marL="742950" lvl="1" indent="-285750">
              <a:buFont typeface="Arial" panose="020B0604020202020204" pitchFamily="34" charset="0"/>
              <a:buChar char="•"/>
            </a:pPr>
            <a:r>
              <a:rPr lang="en-US" sz="2000" b="1" dirty="0">
                <a:effectLst/>
              </a:rPr>
              <a:t>Total Flights:</a:t>
            </a:r>
            <a:r>
              <a:rPr lang="en-US" sz="2000" dirty="0">
                <a:effectLst/>
              </a:rPr>
              <a:t> 500</a:t>
            </a:r>
            <a:endParaRPr lang="en-US" sz="2000" dirty="0"/>
          </a:p>
          <a:p>
            <a:pPr marL="742950" lvl="1" indent="-285750">
              <a:buFont typeface="Arial" panose="020B0604020202020204" pitchFamily="34" charset="0"/>
              <a:buChar char="•"/>
            </a:pPr>
            <a:r>
              <a:rPr lang="en-US" sz="2000" b="1" dirty="0">
                <a:effectLst/>
              </a:rPr>
              <a:t>% Canceled:</a:t>
            </a:r>
            <a:r>
              <a:rPr lang="en-US" sz="2000" dirty="0">
                <a:effectLst/>
              </a:rPr>
              <a:t> 11.8%</a:t>
            </a:r>
            <a:endParaRPr lang="en-US" sz="2000" dirty="0"/>
          </a:p>
          <a:p>
            <a:pPr marL="742950" lvl="1" indent="-285750">
              <a:buFont typeface="Arial" panose="020B0604020202020204" pitchFamily="34" charset="0"/>
              <a:buChar char="•"/>
            </a:pPr>
            <a:r>
              <a:rPr lang="en-US" sz="2000" b="1" dirty="0">
                <a:effectLst/>
              </a:rPr>
              <a:t>Avg Delay:</a:t>
            </a:r>
            <a:r>
              <a:rPr lang="en-US" sz="2000" dirty="0">
                <a:effectLst/>
              </a:rPr>
              <a:t> 43.8 minutes</a:t>
            </a:r>
            <a:endParaRPr lang="en-US" sz="2000" dirty="0"/>
          </a:p>
          <a:p>
            <a:pPr marL="742950" lvl="1" indent="-285750">
              <a:buFont typeface="Arial" panose="020B0604020202020204" pitchFamily="34" charset="0"/>
              <a:buChar char="•"/>
            </a:pPr>
            <a:r>
              <a:rPr lang="en-US" sz="2000" b="1" dirty="0">
                <a:effectLst/>
              </a:rPr>
              <a:t>% Delayed:</a:t>
            </a:r>
            <a:r>
              <a:rPr lang="en-US" sz="2000" dirty="0">
                <a:effectLst/>
              </a:rPr>
              <a:t> 68.4%</a:t>
            </a:r>
            <a:endParaRPr lang="en-US" sz="2000" dirty="0"/>
          </a:p>
          <a:p>
            <a:pPr>
              <a:buNone/>
            </a:pPr>
            <a:r>
              <a:rPr lang="en-US" sz="2000" b="1" dirty="0">
                <a:effectLst/>
              </a:rPr>
              <a:t>Highlights:</a:t>
            </a:r>
            <a:endParaRPr lang="en-US" sz="2000" dirty="0"/>
          </a:p>
          <a:p>
            <a:pPr>
              <a:buFont typeface="Arial" panose="020B0604020202020204" pitchFamily="34" charset="0"/>
              <a:buChar char="•"/>
            </a:pPr>
            <a:r>
              <a:rPr lang="en-US" sz="2000" dirty="0">
                <a:effectLst/>
              </a:rPr>
              <a:t>June recorded the highest cancellation rate.</a:t>
            </a:r>
            <a:endParaRPr lang="en-US" sz="2000" dirty="0"/>
          </a:p>
          <a:p>
            <a:pPr>
              <a:buFont typeface="Arial" panose="020B0604020202020204" pitchFamily="34" charset="0"/>
              <a:buChar char="•"/>
            </a:pPr>
            <a:r>
              <a:rPr lang="en-US" sz="2000" dirty="0">
                <a:effectLst/>
              </a:rPr>
              <a:t>March showed the highest delay percentage.</a:t>
            </a:r>
            <a:endParaRPr lang="en-US" sz="2000" dirty="0"/>
          </a:p>
          <a:p>
            <a:pPr>
              <a:buFont typeface="Arial" panose="020B0604020202020204" pitchFamily="34" charset="0"/>
              <a:buChar char="•"/>
            </a:pPr>
            <a:r>
              <a:rPr lang="en-US" sz="2000" dirty="0">
                <a:effectLst/>
              </a:rPr>
              <a:t>Miami (MIA) had the longest average delays.</a:t>
            </a:r>
            <a:endParaRPr lang="en-US" sz="2000" dirty="0"/>
          </a:p>
          <a:p>
            <a:pPr>
              <a:buFont typeface="Arial" panose="020B0604020202020204" pitchFamily="34" charset="0"/>
              <a:buChar char="•"/>
            </a:pPr>
            <a:r>
              <a:rPr lang="en-US" sz="2000" dirty="0">
                <a:effectLst/>
              </a:rPr>
              <a:t>Evening flights (3–6 PM) experienced the worst delays.</a:t>
            </a:r>
            <a:endParaRPr lang="en-US" sz="2000" dirty="0"/>
          </a:p>
          <a:p>
            <a:pPr>
              <a:buFont typeface="Arial" panose="020B0604020202020204" pitchFamily="34" charset="0"/>
              <a:buChar char="•"/>
            </a:pPr>
            <a:r>
              <a:rPr lang="en-US" sz="2000" dirty="0">
                <a:effectLst/>
              </a:rPr>
              <a:t>Route ATL → JFK had the highest cancellation rate.</a:t>
            </a:r>
            <a:endParaRPr lang="en-US" sz="2000" dirty="0"/>
          </a:p>
        </p:txBody>
      </p:sp>
    </p:spTree>
    <p:extLst>
      <p:ext uri="{BB962C8B-B14F-4D97-AF65-F5344CB8AC3E}">
        <p14:creationId xmlns:p14="http://schemas.microsoft.com/office/powerpoint/2010/main" val="2775842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45084-A064-1577-15C8-92E8C444FBFD}"/>
              </a:ext>
            </a:extLst>
          </p:cNvPr>
          <p:cNvSpPr>
            <a:spLocks noGrp="1"/>
          </p:cNvSpPr>
          <p:nvPr>
            <p:ph type="title"/>
          </p:nvPr>
        </p:nvSpPr>
        <p:spPr/>
        <p:txBody>
          <a:bodyPr/>
          <a:lstStyle/>
          <a:p>
            <a:r>
              <a:rPr lang="en-IN" dirty="0"/>
              <a:t>Recommendations</a:t>
            </a:r>
          </a:p>
        </p:txBody>
      </p:sp>
      <p:sp>
        <p:nvSpPr>
          <p:cNvPr id="4" name="TextBox 3">
            <a:extLst>
              <a:ext uri="{FF2B5EF4-FFF2-40B4-BE49-F238E27FC236}">
                <a16:creationId xmlns:a16="http://schemas.microsoft.com/office/drawing/2014/main" id="{8AFDE4C8-F220-32DC-2710-F0921A155AD9}"/>
              </a:ext>
            </a:extLst>
          </p:cNvPr>
          <p:cNvSpPr txBox="1"/>
          <p:nvPr/>
        </p:nvSpPr>
        <p:spPr>
          <a:xfrm>
            <a:off x="682793" y="2061299"/>
            <a:ext cx="10304206" cy="4401205"/>
          </a:xfrm>
          <a:prstGeom prst="rect">
            <a:avLst/>
          </a:prstGeom>
          <a:noFill/>
        </p:spPr>
        <p:txBody>
          <a:bodyPr wrap="square">
            <a:spAutoFit/>
          </a:bodyPr>
          <a:lstStyle/>
          <a:p>
            <a:pPr>
              <a:buFont typeface="Arial" panose="020B0604020202020204" pitchFamily="34" charset="0"/>
              <a:buChar char="•"/>
            </a:pPr>
            <a:r>
              <a:rPr lang="en-US" sz="2000" b="1" dirty="0">
                <a:effectLst/>
              </a:rPr>
              <a:t>Focus on Evening Flights (3–6 PM):</a:t>
            </a:r>
            <a:r>
              <a:rPr lang="en-US" sz="2000" dirty="0">
                <a:effectLst/>
              </a:rPr>
              <a:t> Address operational bottlenecks during peak delay hours with better scheduling and resource allocation.</a:t>
            </a:r>
          </a:p>
          <a:p>
            <a:pPr>
              <a:buFont typeface="Arial" panose="020B0604020202020204" pitchFamily="34" charset="0"/>
              <a:buChar char="•"/>
            </a:pPr>
            <a:endParaRPr lang="en-US" sz="2000" dirty="0"/>
          </a:p>
          <a:p>
            <a:pPr>
              <a:buFont typeface="Arial" panose="020B0604020202020204" pitchFamily="34" charset="0"/>
              <a:buChar char="•"/>
            </a:pPr>
            <a:r>
              <a:rPr lang="en-US" sz="2000" b="1" dirty="0">
                <a:effectLst/>
              </a:rPr>
              <a:t>Improve Route Reliability:</a:t>
            </a:r>
            <a:r>
              <a:rPr lang="en-US" sz="2000" dirty="0">
                <a:effectLst/>
              </a:rPr>
              <a:t> Prioritize corrective measures for high‑risk routes such as </a:t>
            </a:r>
            <a:r>
              <a:rPr lang="en-US" sz="2000" b="1" dirty="0">
                <a:effectLst/>
              </a:rPr>
              <a:t>ATL → JFK</a:t>
            </a:r>
            <a:r>
              <a:rPr lang="en-US" sz="2000" dirty="0">
                <a:effectLst/>
              </a:rPr>
              <a:t>, which showed the highest cancellation rate.</a:t>
            </a:r>
          </a:p>
          <a:p>
            <a:pPr>
              <a:buFont typeface="Arial" panose="020B0604020202020204" pitchFamily="34" charset="0"/>
              <a:buChar char="•"/>
            </a:pPr>
            <a:endParaRPr lang="en-US" sz="2000" dirty="0"/>
          </a:p>
          <a:p>
            <a:pPr>
              <a:buFont typeface="Arial" panose="020B0604020202020204" pitchFamily="34" charset="0"/>
              <a:buChar char="•"/>
            </a:pPr>
            <a:r>
              <a:rPr lang="en-US" sz="2000" b="1" dirty="0">
                <a:effectLst/>
              </a:rPr>
              <a:t>Airport‑Specific Action Plans:</a:t>
            </a:r>
            <a:r>
              <a:rPr lang="en-US" sz="2000" dirty="0">
                <a:effectLst/>
              </a:rPr>
              <a:t> Target airports with consistently high delays (MIA, PHX, SFO) by reviewing ground operations and turnaround processes.</a:t>
            </a:r>
          </a:p>
          <a:p>
            <a:pPr>
              <a:buFont typeface="Arial" panose="020B0604020202020204" pitchFamily="34" charset="0"/>
              <a:buChar char="•"/>
            </a:pPr>
            <a:endParaRPr lang="en-US" sz="2000" dirty="0"/>
          </a:p>
          <a:p>
            <a:pPr>
              <a:buFont typeface="Arial" panose="020B0604020202020204" pitchFamily="34" charset="0"/>
              <a:buChar char="•"/>
            </a:pPr>
            <a:r>
              <a:rPr lang="en-US" sz="2000" b="1" dirty="0">
                <a:effectLst/>
              </a:rPr>
              <a:t>Airline Performance Monitoring:</a:t>
            </a:r>
            <a:r>
              <a:rPr lang="en-US" sz="2000" dirty="0">
                <a:effectLst/>
              </a:rPr>
              <a:t> Engage with carriers like </a:t>
            </a:r>
            <a:r>
              <a:rPr lang="en-US" sz="2000" b="1" dirty="0">
                <a:effectLst/>
              </a:rPr>
              <a:t>United</a:t>
            </a:r>
            <a:r>
              <a:rPr lang="en-US" sz="2000" dirty="0">
                <a:effectLst/>
              </a:rPr>
              <a:t>, which had the highest cancellation rate, to improve reliability and customer satisfaction.</a:t>
            </a:r>
          </a:p>
          <a:p>
            <a:pPr>
              <a:buFont typeface="Arial" panose="020B0604020202020204" pitchFamily="34" charset="0"/>
              <a:buChar char="•"/>
            </a:pPr>
            <a:endParaRPr lang="en-US" sz="2000" dirty="0"/>
          </a:p>
          <a:p>
            <a:pPr>
              <a:buFont typeface="Arial" panose="020B0604020202020204" pitchFamily="34" charset="0"/>
              <a:buChar char="•"/>
            </a:pPr>
            <a:r>
              <a:rPr lang="en-US" sz="2000" b="1" dirty="0">
                <a:effectLst/>
              </a:rPr>
              <a:t>Continuous Dashboard Use:</a:t>
            </a:r>
            <a:r>
              <a:rPr lang="en-US" sz="2000" dirty="0">
                <a:effectLst/>
              </a:rPr>
              <a:t> Leverage the Power BI dashboard for ongoing monitoring, enabling leadership to track KPIs and act on emerging trends in real time.</a:t>
            </a:r>
            <a:endParaRPr lang="en-US" sz="2000" dirty="0"/>
          </a:p>
        </p:txBody>
      </p:sp>
    </p:spTree>
    <p:extLst>
      <p:ext uri="{BB962C8B-B14F-4D97-AF65-F5344CB8AC3E}">
        <p14:creationId xmlns:p14="http://schemas.microsoft.com/office/powerpoint/2010/main" val="42112420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docProps/app.xml><?xml version="1.0" encoding="utf-8"?>
<Properties xmlns="http://schemas.openxmlformats.org/officeDocument/2006/extended-properties" xmlns:vt="http://schemas.openxmlformats.org/officeDocument/2006/docPropsVTypes">
  <Template>Banded</Template>
  <TotalTime>93</TotalTime>
  <Words>1106</Words>
  <Application>Microsoft Office PowerPoint</Application>
  <PresentationFormat>Widescreen</PresentationFormat>
  <Paragraphs>125</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Corbel</vt:lpstr>
      <vt:lpstr>SFMono-Regular</vt:lpstr>
      <vt:lpstr>Wingdings</vt:lpstr>
      <vt:lpstr>Banded</vt:lpstr>
      <vt:lpstr>Flight Delay &amp; Cancellation Analysis Project</vt:lpstr>
      <vt:lpstr>Problem Statement and Objective </vt:lpstr>
      <vt:lpstr>Dataset Overview</vt:lpstr>
      <vt:lpstr>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Dashboard Highlights</vt:lpstr>
      <vt:lpstr>Functional Uses (DAX formula)</vt:lpstr>
      <vt:lpstr>Executive Summary</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Malini Roychoudhury</dc:creator>
  <cp:lastModifiedBy>Malini Roychoudhury</cp:lastModifiedBy>
  <cp:revision>6</cp:revision>
  <dcterms:created xsi:type="dcterms:W3CDTF">2026-05-01T16:02:08Z</dcterms:created>
  <dcterms:modified xsi:type="dcterms:W3CDTF">2026-05-01T17:35:46Z</dcterms:modified>
</cp:coreProperties>
</file>